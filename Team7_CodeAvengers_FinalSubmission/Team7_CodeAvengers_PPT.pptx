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70" r:id="rId2"/>
    <p:sldId id="257" r:id="rId3"/>
    <p:sldId id="264" r:id="rId4"/>
    <p:sldId id="266" r:id="rId5"/>
    <p:sldId id="259" r:id="rId6"/>
    <p:sldId id="265" r:id="rId7"/>
    <p:sldId id="267" r:id="rId8"/>
    <p:sldId id="268" r:id="rId9"/>
    <p:sldId id="269"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p:scale>
          <a:sx n="80" d="100"/>
          <a:sy n="80" d="100"/>
        </p:scale>
        <p:origin x="754" y="3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withisha Saraswat" userId="99944fab71c25d0f" providerId="LiveId" clId="{3F203C15-0F33-478F-A397-53A3720E2919}"/>
    <pc:docChg chg="undo custSel addSld delSld modSld sldOrd">
      <pc:chgData name="Swithisha Saraswat" userId="99944fab71c25d0f" providerId="LiveId" clId="{3F203C15-0F33-478F-A397-53A3720E2919}" dt="2026-09-29T04:01:56.964" v="311" actId="1076"/>
      <pc:docMkLst>
        <pc:docMk/>
      </pc:docMkLst>
      <pc:sldChg chg="modSp mod">
        <pc:chgData name="Swithisha Saraswat" userId="99944fab71c25d0f" providerId="LiveId" clId="{3F203C15-0F33-478F-A397-53A3720E2919}" dt="2026-09-29T04:01:56.964" v="311" actId="1076"/>
        <pc:sldMkLst>
          <pc:docMk/>
          <pc:sldMk cId="0" sldId="256"/>
        </pc:sldMkLst>
        <pc:spChg chg="mod">
          <ac:chgData name="Swithisha Saraswat" userId="99944fab71c25d0f" providerId="LiveId" clId="{3F203C15-0F33-478F-A397-53A3720E2919}" dt="2026-09-29T04:01:52.795" v="310" actId="1076"/>
          <ac:spMkLst>
            <pc:docMk/>
            <pc:sldMk cId="0" sldId="256"/>
            <ac:spMk id="2" creationId="{00000000-0000-0000-0000-000000000000}"/>
          </ac:spMkLst>
        </pc:spChg>
        <pc:picChg chg="mod">
          <ac:chgData name="Swithisha Saraswat" userId="99944fab71c25d0f" providerId="LiveId" clId="{3F203C15-0F33-478F-A397-53A3720E2919}" dt="2026-09-29T04:01:56.964" v="311" actId="1076"/>
          <ac:picMkLst>
            <pc:docMk/>
            <pc:sldMk cId="0" sldId="256"/>
            <ac:picMk id="51" creationId="{00000000-0000-0000-0000-000000000000}"/>
          </ac:picMkLst>
        </pc:picChg>
      </pc:sldChg>
      <pc:sldChg chg="modSp mod">
        <pc:chgData name="Swithisha Saraswat" userId="99944fab71c25d0f" providerId="LiveId" clId="{3F203C15-0F33-478F-A397-53A3720E2919}" dt="2026-09-26T20:06:37.805" v="179" actId="1035"/>
        <pc:sldMkLst>
          <pc:docMk/>
          <pc:sldMk cId="0" sldId="257"/>
        </pc:sldMkLst>
        <pc:spChg chg="mod">
          <ac:chgData name="Swithisha Saraswat" userId="99944fab71c25d0f" providerId="LiveId" clId="{3F203C15-0F33-478F-A397-53A3720E2919}" dt="2026-09-26T19:57:18.946" v="10" actId="20577"/>
          <ac:spMkLst>
            <pc:docMk/>
            <pc:sldMk cId="0" sldId="257"/>
            <ac:spMk id="13" creationId="{00000000-0000-0000-0000-000000000000}"/>
          </ac:spMkLst>
        </pc:spChg>
        <pc:spChg chg="mod">
          <ac:chgData name="Swithisha Saraswat" userId="99944fab71c25d0f" providerId="LiveId" clId="{3F203C15-0F33-478F-A397-53A3720E2919}" dt="2026-09-26T19:58:41.282" v="14" actId="20577"/>
          <ac:spMkLst>
            <pc:docMk/>
            <pc:sldMk cId="0" sldId="257"/>
            <ac:spMk id="19" creationId="{00000000-0000-0000-0000-000000000000}"/>
          </ac:spMkLst>
        </pc:spChg>
        <pc:spChg chg="mod">
          <ac:chgData name="Swithisha Saraswat" userId="99944fab71c25d0f" providerId="LiveId" clId="{3F203C15-0F33-478F-A397-53A3720E2919}" dt="2026-09-26T19:59:38.651" v="28" actId="20577"/>
          <ac:spMkLst>
            <pc:docMk/>
            <pc:sldMk cId="0" sldId="257"/>
            <ac:spMk id="20" creationId="{00000000-0000-0000-0000-000000000000}"/>
          </ac:spMkLst>
        </pc:spChg>
        <pc:spChg chg="mod">
          <ac:chgData name="Swithisha Saraswat" userId="99944fab71c25d0f" providerId="LiveId" clId="{3F203C15-0F33-478F-A397-53A3720E2919}" dt="2026-09-26T20:02:25.715" v="95" actId="20577"/>
          <ac:spMkLst>
            <pc:docMk/>
            <pc:sldMk cId="0" sldId="257"/>
            <ac:spMk id="21" creationId="{00000000-0000-0000-0000-000000000000}"/>
          </ac:spMkLst>
        </pc:spChg>
        <pc:spChg chg="mod">
          <ac:chgData name="Swithisha Saraswat" userId="99944fab71c25d0f" providerId="LiveId" clId="{3F203C15-0F33-478F-A397-53A3720E2919}" dt="2026-09-26T19:59:16.172" v="19" actId="20577"/>
          <ac:spMkLst>
            <pc:docMk/>
            <pc:sldMk cId="0" sldId="257"/>
            <ac:spMk id="23" creationId="{00000000-0000-0000-0000-000000000000}"/>
          </ac:spMkLst>
        </pc:spChg>
        <pc:spChg chg="mod">
          <ac:chgData name="Swithisha Saraswat" userId="99944fab71c25d0f" providerId="LiveId" clId="{3F203C15-0F33-478F-A397-53A3720E2919}" dt="2026-09-26T20:00:45.414" v="62" actId="20577"/>
          <ac:spMkLst>
            <pc:docMk/>
            <pc:sldMk cId="0" sldId="257"/>
            <ac:spMk id="24" creationId="{00000000-0000-0000-0000-000000000000}"/>
          </ac:spMkLst>
        </pc:spChg>
        <pc:spChg chg="mod">
          <ac:chgData name="Swithisha Saraswat" userId="99944fab71c25d0f" providerId="LiveId" clId="{3F203C15-0F33-478F-A397-53A3720E2919}" dt="2026-09-26T20:04:30.754" v="106" actId="20577"/>
          <ac:spMkLst>
            <pc:docMk/>
            <pc:sldMk cId="0" sldId="257"/>
            <ac:spMk id="25" creationId="{00000000-0000-0000-0000-000000000000}"/>
          </ac:spMkLst>
        </pc:spChg>
        <pc:spChg chg="mod">
          <ac:chgData name="Swithisha Saraswat" userId="99944fab71c25d0f" providerId="LiveId" clId="{3F203C15-0F33-478F-A397-53A3720E2919}" dt="2026-09-26T20:06:37.805" v="179" actId="1035"/>
          <ac:spMkLst>
            <pc:docMk/>
            <pc:sldMk cId="0" sldId="257"/>
            <ac:spMk id="27" creationId="{00000000-0000-0000-0000-000000000000}"/>
          </ac:spMkLst>
        </pc:spChg>
      </pc:sldChg>
      <pc:sldChg chg="add del">
        <pc:chgData name="Swithisha Saraswat" userId="99944fab71c25d0f" providerId="LiveId" clId="{3F203C15-0F33-478F-A397-53A3720E2919}" dt="2026-09-26T20:28:29.384" v="184"/>
        <pc:sldMkLst>
          <pc:docMk/>
          <pc:sldMk cId="0" sldId="259"/>
        </pc:sldMkLst>
      </pc:sldChg>
      <pc:sldChg chg="delSp modSp mod">
        <pc:chgData name="Swithisha Saraswat" userId="99944fab71c25d0f" providerId="LiveId" clId="{3F203C15-0F33-478F-A397-53A3720E2919}" dt="2026-09-26T20:54:22.768" v="304" actId="478"/>
        <pc:sldMkLst>
          <pc:docMk/>
          <pc:sldMk cId="0" sldId="262"/>
        </pc:sldMkLst>
        <pc:spChg chg="mod">
          <ac:chgData name="Swithisha Saraswat" userId="99944fab71c25d0f" providerId="LiveId" clId="{3F203C15-0F33-478F-A397-53A3720E2919}" dt="2026-09-26T20:54:20.098" v="303" actId="20577"/>
          <ac:spMkLst>
            <pc:docMk/>
            <pc:sldMk cId="0" sldId="262"/>
            <ac:spMk id="3" creationId="{00000000-0000-0000-0000-000000000000}"/>
          </ac:spMkLst>
        </pc:spChg>
        <pc:spChg chg="mod">
          <ac:chgData name="Swithisha Saraswat" userId="99944fab71c25d0f" providerId="LiveId" clId="{3F203C15-0F33-478F-A397-53A3720E2919}" dt="2026-09-26T20:30:38.114" v="234" actId="6549"/>
          <ac:spMkLst>
            <pc:docMk/>
            <pc:sldMk cId="0" sldId="262"/>
            <ac:spMk id="6" creationId="{00000000-0000-0000-0000-000000000000}"/>
          </ac:spMkLst>
        </pc:spChg>
      </pc:sldChg>
      <pc:sldChg chg="addSp delSp add mod">
        <pc:chgData name="Swithisha Saraswat" userId="99944fab71c25d0f" providerId="LiveId" clId="{3F203C15-0F33-478F-A397-53A3720E2919}" dt="2026-09-26T20:52:56.048" v="237" actId="22"/>
        <pc:sldMkLst>
          <pc:docMk/>
          <pc:sldMk cId="0" sldId="264"/>
        </pc:sldMkLst>
      </pc:sldChg>
      <pc:sldChg chg="modSp add mod">
        <pc:chgData name="Swithisha Saraswat" userId="99944fab71c25d0f" providerId="LiveId" clId="{3F203C15-0F33-478F-A397-53A3720E2919}" dt="2026-09-26T20:29:02.048" v="231" actId="6549"/>
        <pc:sldMkLst>
          <pc:docMk/>
          <pc:sldMk cId="0" sldId="265"/>
        </pc:sldMkLst>
        <pc:spChg chg="mod">
          <ac:chgData name="Swithisha Saraswat" userId="99944fab71c25d0f" providerId="LiveId" clId="{3F203C15-0F33-478F-A397-53A3720E2919}" dt="2026-09-26T20:29:02.048" v="231" actId="6549"/>
          <ac:spMkLst>
            <pc:docMk/>
            <pc:sldMk cId="0" sldId="265"/>
            <ac:spMk id="12" creationId="{00000000-0000-0000-0000-000000000000}"/>
          </ac:spMkLst>
        </pc:spChg>
      </pc:sldChg>
      <pc:sldChg chg="add">
        <pc:chgData name="Swithisha Saraswat" userId="99944fab71c25d0f" providerId="LiveId" clId="{3F203C15-0F33-478F-A397-53A3720E2919}" dt="2026-09-26T20:53:10.374" v="238"/>
        <pc:sldMkLst>
          <pc:docMk/>
          <pc:sldMk cId="0" sldId="266"/>
        </pc:sldMkLst>
      </pc:sldChg>
      <pc:sldChg chg="add ord">
        <pc:chgData name="Swithisha Saraswat" userId="99944fab71c25d0f" providerId="LiveId" clId="{3F203C15-0F33-478F-A397-53A3720E2919}" dt="2026-09-26T20:54:33.321" v="306"/>
        <pc:sldMkLst>
          <pc:docMk/>
          <pc:sldMk cId="2277031754"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37934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0:00–0:18 — “We are Team 7, Code Avengers. Our goal was to turn a multi-table heart-failure dataset into an end-to-end analytics workflow: understand it, clean it, discover patterns, translate those patterns into actions, test predictive models, and finally communicate the results through a dashboard.”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417666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0:18–0:52 — “Day 1 was data understanding: we mapped all seven tables and the common inpatient key. Day 2 was cleaning and validation. On Days 3 and 4, the team worked in parallel on descriptive, prescriptive and predictive analysis. During Days 4 and 5, we consolidated everyone’s work, standardized the format and file structure, and prepared the results for the dashboard.”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began by understanding all seven clinical tables—their dimensions, patient keys and how each table represented a different clinical domain. Six core patient-level tables contained 2,008 records each, while prescriptions contained 15,362 patient–drug records. During cleaning, we validated patient identifiers, checked missingness and duplicates, standardized the structure, and handled medication data at the correct grain before merging. This resulted in a consolidated analytical dataset with 2,008 unique patients and 116 features, providing a reliable foundation for the remaining analysis.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descriptive analysis focused directly on the hospitalized heart-failure cohort. We found that BNP and Troponin increased as NYHA functional severity increased. We also examined how NYHA class flowed into BNP and LVEF groups, which showed that patients with the same symptom class can still have different cardiac profiles. This established a heart-failure-specific clinical picture before moving into recommended actions.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Prescriptive analysis asks what action the evidence suggests. Two examples stood out. First, mortality rises sharply when Killip and NYHA severity are considered together, with the highest-risk combinations supporting earlier ICU-level monitoring. Second, ICU patients had about 13 percent 28-day mortality—far higher than General Ward or Cardiology—showing why staffing should consider clinical risk, not just patient volume.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Predictive analysis is important because it combines many clinical signals at once rather than relying on one measurement. For our documented myocardial infarction analysis, the extended logistic model was selected using training-only cross-validation and then evaluated on 402 held-out patients. It achieved a ROC-AUC of 0.920, with a bootstrap confidence interval from 0.863 to 0.964. CCI score was the strongest permutation-importance feature, followed by CKD, COPD and diabetes. Because the dataset does not contain MI-onset timestamps, we describe this as classification of documented MI patterns, not prediction of a future heart attack.</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C951F33-8B3A-C500-D7D5-71412E470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C2573F08-DE82-90D1-91B6-2CE581CE84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BDE1C69E-7E69-A02A-E1DA-A471DB78A81C}"/>
              </a:ext>
            </a:extLst>
          </p:cNvPr>
          <p:cNvSpPr>
            <a:spLocks noGrp="1"/>
          </p:cNvSpPr>
          <p:nvPr>
            <p:ph type="body" idx="1"/>
          </p:nvPr>
        </p:nvSpPr>
        <p:spPr/>
        <p:txBody>
          <a:bodyPr/>
          <a:lstStyle/>
          <a:p>
            <a:r>
              <a:rPr lang="en-US" dirty="0"/>
              <a:t>2:30–4:00 — “Now I’ll show how those layers come together in the dashboard. Start with the cohort snapshot and filters, then point to one or two strongest descriptive patterns, move to the priority/risk view, and finish with outcomes or follow-up indicators. Avoid explaining every chart—use the dashboard to show how a user can move from population overview to a specific high-priority subgroup.”</a:t>
            </a:r>
          </a:p>
        </p:txBody>
      </p:sp>
      <p:sp>
        <p:nvSpPr>
          <p:cNvPr id="4" name="Slide Number Placeholder 3">
            <a:extLst>
              <a:ext uri="{FF2B5EF4-FFF2-40B4-BE49-F238E27FC236}">
                <a16:creationId xmlns:a16="http://schemas.microsoft.com/office/drawing/2014/main" xmlns="" id="{496FA539-616D-5A59-91F6-6EF920E0FF1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284928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0B981"/>
          </a:solidFill>
          <a:ln w="12700">
            <a:solidFill>
              <a:srgbClr val="10B981"/>
            </a:solidFill>
            <a:prstDash val="solid"/>
          </a:ln>
        </p:spPr>
        <p:txBody>
          <a:bodyPr/>
          <a:lstStyle/>
          <a:p>
            <a:endParaRPr lang="en-US"/>
          </a:p>
        </p:txBody>
      </p:sp>
      <p:sp>
        <p:nvSpPr>
          <p:cNvPr id="3" name="Text 1"/>
          <p:cNvSpPr/>
          <p:nvPr/>
        </p:nvSpPr>
        <p:spPr>
          <a:xfrm>
            <a:off x="502920" y="6510528"/>
            <a:ext cx="3474720" cy="146304"/>
          </a:xfrm>
          <a:prstGeom prst="rect">
            <a:avLst/>
          </a:prstGeom>
          <a:noFill/>
          <a:ln/>
        </p:spPr>
        <p:txBody>
          <a:bodyPr wrap="square" lIns="0" tIns="0" rIns="0" bIns="0" rtlCol="0" anchor="ctr"/>
          <a:lstStyle/>
          <a:p>
            <a:pPr marL="0" indent="0">
              <a:buNone/>
            </a:pPr>
            <a:r>
              <a:rPr lang="en-US" sz="800" b="1" dirty="0">
                <a:solidFill>
                  <a:srgbClr val="64748B"/>
                </a:solidFill>
                <a:latin typeface="Aptos" pitchFamily="34" charset="0"/>
                <a:ea typeface="Aptos" pitchFamily="34" charset="-122"/>
                <a:cs typeface="Aptos" pitchFamily="34" charset="-120"/>
              </a:rPr>
              <a:t>TEAM 7  •  CODE AVENGERS</a:t>
            </a:r>
            <a:endParaRPr lang="en-US" sz="800" dirty="0"/>
          </a:p>
        </p:txBody>
      </p:sp>
      <p:sp>
        <p:nvSpPr>
          <p:cNvPr id="4" name="Text 2"/>
          <p:cNvSpPr/>
          <p:nvPr/>
        </p:nvSpPr>
        <p:spPr>
          <a:xfrm>
            <a:off x="8412480" y="6510528"/>
            <a:ext cx="3246120" cy="146304"/>
          </a:xfrm>
          <a:prstGeom prst="rect">
            <a:avLst/>
          </a:prstGeom>
          <a:noFill/>
          <a:ln/>
        </p:spPr>
        <p:txBody>
          <a:bodyPr wrap="square" lIns="0" tIns="0" rIns="0" bIns="0" rtlCol="0" anchor="ctr"/>
          <a:lstStyle/>
          <a:p>
            <a:pPr marL="0" indent="0" algn="r">
              <a:buNone/>
            </a:pPr>
            <a:r>
              <a:rPr lang="en-US" sz="800" dirty="0">
                <a:solidFill>
                  <a:srgbClr val="94A3B8"/>
                </a:solidFill>
                <a:latin typeface="Aptos" pitchFamily="34" charset="0"/>
                <a:ea typeface="Aptos" pitchFamily="34" charset="-122"/>
                <a:cs typeface="Aptos" pitchFamily="34" charset="-120"/>
              </a:rPr>
              <a:t>PYTHON HACKATHON • SEP 2026</a:t>
            </a:r>
            <a:endParaRPr lang="en-US" sz="800" dirty="0"/>
          </a:p>
        </p:txBody>
      </p:sp>
      <p:sp>
        <p:nvSpPr>
          <p:cNvPr id="25" name="Slide Number Placeholder 0"/>
          <p:cNvSpPr>
            <a:spLocks noGrp="1"/>
          </p:cNvSpPr>
          <p:nvPr>
            <p:ph type="sldNum" sz="quarter" idx="4294967295"/>
          </p:nvPr>
        </p:nvSpPr>
        <p:spPr>
          <a:xfrm>
            <a:off x="11722608" y="6492240"/>
            <a:ext cx="18288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94A3B8"/>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22608" y="6492240"/>
            <a:ext cx="18288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94A3B8"/>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hyperlink" Target="https://team7codeavengerspythonhackathonsep2026-mt2ffbiuvp5xevzykbpqqn.streamlit.app/"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37" name="Heart 36"/>
          <p:cNvSpPr/>
          <p:nvPr/>
        </p:nvSpPr>
        <p:spPr>
          <a:xfrm>
            <a:off x="1532308" y="1130123"/>
            <a:ext cx="2423160" cy="2148840"/>
          </a:xfrm>
          <a:prstGeom prst="hear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1795760" y="0"/>
            <a:ext cx="393192" cy="6858000"/>
          </a:xfrm>
          <a:prstGeom prst="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0"/>
            <a:ext cx="164592" cy="6858000"/>
          </a:xfrm>
          <a:prstGeom prst="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hape 11"/>
          <p:cNvSpPr/>
          <p:nvPr/>
        </p:nvSpPr>
        <p:spPr>
          <a:xfrm>
            <a:off x="832104" y="1174165"/>
            <a:ext cx="3246120" cy="4297680"/>
          </a:xfrm>
          <a:prstGeom prst="roundRect">
            <a:avLst>
              <a:gd name="adj" fmla="val 2817"/>
            </a:avLst>
          </a:prstGeom>
          <a:solidFill>
            <a:srgbClr val="EBF7FD">
              <a:alpha val="96000"/>
            </a:srgbClr>
          </a:solidFill>
          <a:ln w="12700">
            <a:solidFill>
              <a:srgbClr val="BEDEEE"/>
            </a:solidFill>
            <a:prstDash val="solid"/>
          </a:ln>
        </p:spPr>
        <p:txBody>
          <a:bodyPr/>
          <a:lstStyle/>
          <a:p>
            <a:endParaRPr lang="en-US"/>
          </a:p>
        </p:txBody>
      </p:sp>
      <p:sp>
        <p:nvSpPr>
          <p:cNvPr id="14" name="Shape 12"/>
          <p:cNvSpPr/>
          <p:nvPr/>
        </p:nvSpPr>
        <p:spPr>
          <a:xfrm>
            <a:off x="1075108" y="1495883"/>
            <a:ext cx="329184" cy="329184"/>
          </a:xfrm>
          <a:prstGeom prst="ellipse">
            <a:avLst/>
          </a:prstGeom>
          <a:solidFill>
            <a:srgbClr val="EBF7FD"/>
          </a:solidFill>
          <a:ln w="12700">
            <a:solidFill>
              <a:srgbClr val="BEDEEE"/>
            </a:solidFill>
            <a:prstDash val="solid"/>
          </a:ln>
        </p:spPr>
        <p:txBody>
          <a:bodyPr/>
          <a:lstStyle/>
          <a:p>
            <a:endParaRPr lang="en-US"/>
          </a:p>
        </p:txBody>
      </p:sp>
      <p:sp>
        <p:nvSpPr>
          <p:cNvPr id="15" name="Shape 13"/>
          <p:cNvSpPr/>
          <p:nvPr/>
        </p:nvSpPr>
        <p:spPr>
          <a:xfrm>
            <a:off x="1239700" y="1825067"/>
            <a:ext cx="0" cy="493776"/>
          </a:xfrm>
          <a:prstGeom prst="line">
            <a:avLst/>
          </a:prstGeom>
          <a:solidFill>
            <a:srgbClr val="EBF7FD"/>
          </a:solidFill>
          <a:ln w="25400">
            <a:solidFill>
              <a:srgbClr val="BEDEEE"/>
            </a:solidFill>
            <a:prstDash val="solid"/>
          </a:ln>
        </p:spPr>
        <p:txBody>
          <a:bodyPr/>
          <a:lstStyle/>
          <a:p>
            <a:endParaRPr lang="en-US"/>
          </a:p>
        </p:txBody>
      </p:sp>
      <p:sp>
        <p:nvSpPr>
          <p:cNvPr id="16" name="Text 14"/>
          <p:cNvSpPr/>
          <p:nvPr/>
        </p:nvSpPr>
        <p:spPr>
          <a:xfrm>
            <a:off x="1596316" y="1559891"/>
            <a:ext cx="1783080" cy="182880"/>
          </a:xfrm>
          <a:prstGeom prst="rect">
            <a:avLst/>
          </a:prstGeom>
          <a:solidFill>
            <a:srgbClr val="EBF7FD"/>
          </a:solidFill>
          <a:ln>
            <a:solidFill>
              <a:srgbClr val="BEDEEE"/>
            </a:solidFill>
          </a:ln>
        </p:spPr>
        <p:txBody>
          <a:bodyPr wrap="square" lIns="0" tIns="0" rIns="0" bIns="0" rtlCol="0" anchor="ctr"/>
          <a:lstStyle/>
          <a:p>
            <a:pPr marL="0" indent="0">
              <a:buNone/>
            </a:pPr>
            <a:r>
              <a:rPr lang="en-US" sz="1200" b="1" dirty="0" smtClean="0">
                <a:solidFill>
                  <a:srgbClr val="0A8BCA"/>
                </a:solidFill>
                <a:latin typeface="Aptos"/>
              </a:rPr>
              <a:t>UDERSTAND</a:t>
            </a:r>
            <a:endParaRPr lang="en-US" sz="1200" dirty="0"/>
          </a:p>
        </p:txBody>
      </p:sp>
      <p:sp>
        <p:nvSpPr>
          <p:cNvPr id="17" name="Shape 15"/>
          <p:cNvSpPr/>
          <p:nvPr/>
        </p:nvSpPr>
        <p:spPr>
          <a:xfrm>
            <a:off x="1075108" y="2318843"/>
            <a:ext cx="329184" cy="329184"/>
          </a:xfrm>
          <a:prstGeom prst="ellipse">
            <a:avLst/>
          </a:prstGeom>
          <a:solidFill>
            <a:srgbClr val="EBF7FD"/>
          </a:solidFill>
          <a:ln w="12700">
            <a:solidFill>
              <a:srgbClr val="BEDEEE"/>
            </a:solidFill>
            <a:prstDash val="solid"/>
          </a:ln>
        </p:spPr>
        <p:txBody>
          <a:bodyPr/>
          <a:lstStyle/>
          <a:p>
            <a:endParaRPr lang="en-US"/>
          </a:p>
        </p:txBody>
      </p:sp>
      <p:sp>
        <p:nvSpPr>
          <p:cNvPr id="18" name="Shape 16"/>
          <p:cNvSpPr/>
          <p:nvPr/>
        </p:nvSpPr>
        <p:spPr>
          <a:xfrm>
            <a:off x="1239700" y="2648027"/>
            <a:ext cx="0" cy="493776"/>
          </a:xfrm>
          <a:prstGeom prst="line">
            <a:avLst/>
          </a:prstGeom>
          <a:solidFill>
            <a:srgbClr val="EBF7FD"/>
          </a:solidFill>
          <a:ln w="25400">
            <a:solidFill>
              <a:srgbClr val="BEDEEE"/>
            </a:solidFill>
            <a:prstDash val="solid"/>
          </a:ln>
        </p:spPr>
        <p:txBody>
          <a:bodyPr/>
          <a:lstStyle/>
          <a:p>
            <a:endParaRPr lang="en-US"/>
          </a:p>
        </p:txBody>
      </p:sp>
      <p:sp>
        <p:nvSpPr>
          <p:cNvPr id="19" name="Text 17"/>
          <p:cNvSpPr/>
          <p:nvPr/>
        </p:nvSpPr>
        <p:spPr>
          <a:xfrm>
            <a:off x="1596316" y="2382851"/>
            <a:ext cx="1783080" cy="182880"/>
          </a:xfrm>
          <a:prstGeom prst="rect">
            <a:avLst/>
          </a:prstGeom>
          <a:solidFill>
            <a:srgbClr val="EBF7FD"/>
          </a:solidFill>
          <a:ln>
            <a:solidFill>
              <a:srgbClr val="BEDEEE"/>
            </a:solidFill>
          </a:ln>
        </p:spPr>
        <p:txBody>
          <a:bodyPr wrap="square" lIns="0" tIns="0" rIns="0" bIns="0" rtlCol="0" anchor="ctr"/>
          <a:lstStyle/>
          <a:p>
            <a:pPr marL="0" indent="0">
              <a:buNone/>
            </a:pPr>
            <a:r>
              <a:rPr lang="en-US" sz="1200" b="1" dirty="0">
                <a:solidFill>
                  <a:srgbClr val="0A8BCA"/>
                </a:solidFill>
                <a:latin typeface="Aptos"/>
              </a:rPr>
              <a:t>CLEAN</a:t>
            </a:r>
            <a:endParaRPr lang="en-US" sz="1200" dirty="0"/>
          </a:p>
        </p:txBody>
      </p:sp>
      <p:sp>
        <p:nvSpPr>
          <p:cNvPr id="20" name="Shape 18"/>
          <p:cNvSpPr/>
          <p:nvPr/>
        </p:nvSpPr>
        <p:spPr>
          <a:xfrm>
            <a:off x="1075108" y="3141803"/>
            <a:ext cx="329184" cy="329184"/>
          </a:xfrm>
          <a:prstGeom prst="ellipse">
            <a:avLst/>
          </a:prstGeom>
          <a:solidFill>
            <a:srgbClr val="EBF7FD"/>
          </a:solidFill>
          <a:ln w="12700">
            <a:solidFill>
              <a:srgbClr val="BEDEEE"/>
            </a:solidFill>
            <a:prstDash val="solid"/>
          </a:ln>
        </p:spPr>
        <p:txBody>
          <a:bodyPr/>
          <a:lstStyle/>
          <a:p>
            <a:endParaRPr lang="en-US"/>
          </a:p>
        </p:txBody>
      </p:sp>
      <p:sp>
        <p:nvSpPr>
          <p:cNvPr id="21" name="Shape 19"/>
          <p:cNvSpPr/>
          <p:nvPr/>
        </p:nvSpPr>
        <p:spPr>
          <a:xfrm>
            <a:off x="1206708" y="2758640"/>
            <a:ext cx="0" cy="493776"/>
          </a:xfrm>
          <a:prstGeom prst="line">
            <a:avLst/>
          </a:prstGeom>
          <a:solidFill>
            <a:srgbClr val="EBF7FD"/>
          </a:solidFill>
          <a:ln w="25400">
            <a:solidFill>
              <a:srgbClr val="BEDEEE"/>
            </a:solidFill>
            <a:prstDash val="solid"/>
          </a:ln>
        </p:spPr>
        <p:txBody>
          <a:bodyPr/>
          <a:lstStyle/>
          <a:p>
            <a:endParaRPr lang="en-US"/>
          </a:p>
        </p:txBody>
      </p:sp>
      <p:sp>
        <p:nvSpPr>
          <p:cNvPr id="22" name="Text 20"/>
          <p:cNvSpPr/>
          <p:nvPr/>
        </p:nvSpPr>
        <p:spPr>
          <a:xfrm>
            <a:off x="1596316" y="3205811"/>
            <a:ext cx="1783080" cy="182880"/>
          </a:xfrm>
          <a:prstGeom prst="rect">
            <a:avLst/>
          </a:prstGeom>
          <a:solidFill>
            <a:srgbClr val="EBF7FD"/>
          </a:solidFill>
          <a:ln>
            <a:solidFill>
              <a:srgbClr val="BEDEEE"/>
            </a:solidFill>
          </a:ln>
        </p:spPr>
        <p:txBody>
          <a:bodyPr wrap="square" lIns="0" tIns="0" rIns="0" bIns="0" rtlCol="0" anchor="ctr"/>
          <a:lstStyle/>
          <a:p>
            <a:pPr marL="0" indent="0">
              <a:buNone/>
            </a:pPr>
            <a:r>
              <a:rPr lang="en-US" sz="1200" b="1" dirty="0">
                <a:solidFill>
                  <a:srgbClr val="0A8BCA"/>
                </a:solidFill>
                <a:latin typeface="Aptos"/>
              </a:rPr>
              <a:t>ANALYZE</a:t>
            </a:r>
            <a:endParaRPr lang="en-US" sz="1200" dirty="0"/>
          </a:p>
        </p:txBody>
      </p:sp>
      <p:sp>
        <p:nvSpPr>
          <p:cNvPr id="23" name="Shape 21"/>
          <p:cNvSpPr/>
          <p:nvPr/>
        </p:nvSpPr>
        <p:spPr>
          <a:xfrm>
            <a:off x="1075108" y="3964763"/>
            <a:ext cx="329184" cy="329184"/>
          </a:xfrm>
          <a:prstGeom prst="ellipse">
            <a:avLst/>
          </a:prstGeom>
          <a:solidFill>
            <a:srgbClr val="EBF7FD"/>
          </a:solidFill>
          <a:ln w="12700">
            <a:solidFill>
              <a:srgbClr val="BEDEEE"/>
            </a:solidFill>
            <a:prstDash val="solid"/>
          </a:ln>
        </p:spPr>
        <p:txBody>
          <a:bodyPr/>
          <a:lstStyle/>
          <a:p>
            <a:endParaRPr lang="en-US"/>
          </a:p>
        </p:txBody>
      </p:sp>
      <p:sp>
        <p:nvSpPr>
          <p:cNvPr id="24" name="Shape 22"/>
          <p:cNvSpPr/>
          <p:nvPr/>
        </p:nvSpPr>
        <p:spPr>
          <a:xfrm>
            <a:off x="1239700" y="4293947"/>
            <a:ext cx="0" cy="493776"/>
          </a:xfrm>
          <a:prstGeom prst="line">
            <a:avLst/>
          </a:prstGeom>
          <a:solidFill>
            <a:srgbClr val="EBF7FD"/>
          </a:solidFill>
          <a:ln w="25400">
            <a:solidFill>
              <a:srgbClr val="BEDEEE"/>
            </a:solidFill>
            <a:prstDash val="solid"/>
          </a:ln>
        </p:spPr>
        <p:txBody>
          <a:bodyPr/>
          <a:lstStyle/>
          <a:p>
            <a:endParaRPr lang="en-US"/>
          </a:p>
        </p:txBody>
      </p:sp>
      <p:sp>
        <p:nvSpPr>
          <p:cNvPr id="25" name="Text 23"/>
          <p:cNvSpPr/>
          <p:nvPr/>
        </p:nvSpPr>
        <p:spPr>
          <a:xfrm>
            <a:off x="1563324" y="3316424"/>
            <a:ext cx="1783080" cy="182880"/>
          </a:xfrm>
          <a:prstGeom prst="rect">
            <a:avLst/>
          </a:prstGeom>
          <a:solidFill>
            <a:srgbClr val="EBF7FD"/>
          </a:solidFill>
          <a:ln>
            <a:solidFill>
              <a:srgbClr val="BEDEEE"/>
            </a:solidFill>
          </a:ln>
        </p:spPr>
        <p:txBody>
          <a:bodyPr wrap="square" lIns="0" tIns="0" rIns="0" bIns="0" rtlCol="0" anchor="ctr"/>
          <a:lstStyle/>
          <a:p>
            <a:pPr marL="0" indent="0">
              <a:buNone/>
            </a:pPr>
            <a:r>
              <a:rPr lang="en-US" sz="1200" b="1" dirty="0">
                <a:solidFill>
                  <a:srgbClr val="0A8BCA"/>
                </a:solidFill>
                <a:latin typeface="Aptos"/>
              </a:rPr>
              <a:t>CONSOLIDATE</a:t>
            </a:r>
            <a:endParaRPr lang="en-US" sz="1200" dirty="0"/>
          </a:p>
        </p:txBody>
      </p:sp>
      <p:sp>
        <p:nvSpPr>
          <p:cNvPr id="26" name="Shape 24"/>
          <p:cNvSpPr/>
          <p:nvPr/>
        </p:nvSpPr>
        <p:spPr>
          <a:xfrm>
            <a:off x="1075108" y="4787723"/>
            <a:ext cx="329184" cy="329184"/>
          </a:xfrm>
          <a:prstGeom prst="ellipse">
            <a:avLst/>
          </a:prstGeom>
          <a:solidFill>
            <a:srgbClr val="EBF7FD"/>
          </a:solidFill>
          <a:ln w="12700">
            <a:solidFill>
              <a:srgbClr val="BEDEEE"/>
            </a:solidFill>
            <a:prstDash val="solid"/>
          </a:ln>
        </p:spPr>
        <p:txBody>
          <a:bodyPr/>
          <a:lstStyle/>
          <a:p>
            <a:endParaRPr lang="en-US"/>
          </a:p>
        </p:txBody>
      </p:sp>
      <p:sp>
        <p:nvSpPr>
          <p:cNvPr id="27" name="Text 25"/>
          <p:cNvSpPr/>
          <p:nvPr/>
        </p:nvSpPr>
        <p:spPr>
          <a:xfrm>
            <a:off x="1596316" y="4851731"/>
            <a:ext cx="1783080" cy="182880"/>
          </a:xfrm>
          <a:prstGeom prst="rect">
            <a:avLst/>
          </a:prstGeom>
          <a:solidFill>
            <a:srgbClr val="EBF7FD"/>
          </a:solidFill>
          <a:ln>
            <a:solidFill>
              <a:srgbClr val="BEDEEE"/>
            </a:solidFill>
          </a:ln>
        </p:spPr>
        <p:txBody>
          <a:bodyPr wrap="square" lIns="0" tIns="0" rIns="0" bIns="0" rtlCol="0" anchor="ctr"/>
          <a:lstStyle/>
          <a:p>
            <a:pPr marL="0" indent="0">
              <a:buNone/>
            </a:pPr>
            <a:r>
              <a:rPr lang="en-US" sz="1200" b="1" dirty="0">
                <a:solidFill>
                  <a:srgbClr val="0A8BCA"/>
                </a:solidFill>
                <a:latin typeface="Aptos"/>
              </a:rPr>
              <a:t>VISUALIZE</a:t>
            </a:r>
            <a:endParaRPr lang="en-US" sz="1200" dirty="0"/>
          </a:p>
        </p:txBody>
      </p:sp>
      <p:sp>
        <p:nvSpPr>
          <p:cNvPr id="28" name="Slide Number Placeholder 0"/>
          <p:cNvSpPr>
            <a:spLocks noGrp="1"/>
          </p:cNvSpPr>
          <p:nvPr>
            <p:ph type="sldNum" sz="quarter" idx="4294967295"/>
          </p:nvPr>
        </p:nvSpPr>
        <p:spPr>
          <a:xfrm>
            <a:off x="11722608" y="6492240"/>
            <a:ext cx="18288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94A3B8"/>
                </a:solidFill>
                <a:latin typeface="Aptos"/>
                <a:ea typeface="Aptos"/>
                <a:cs typeface="Aptos"/>
              </a:defRPr>
            </a:lvl1pPr>
          </a:lstStyle>
          <a:p>
            <a:pPr algn="l"/>
            <a:fld id="{F7021451-1387-4CA6-816F-3879F97B5CBC}" type="slidenum">
              <a:rPr lang="en-US" b="0"/>
              <a:t>1</a:t>
            </a:fld>
            <a:endParaRPr lang="en-US"/>
          </a:p>
        </p:txBody>
      </p:sp>
      <p:sp>
        <p:nvSpPr>
          <p:cNvPr id="31" name="Heart 30"/>
          <p:cNvSpPr/>
          <p:nvPr/>
        </p:nvSpPr>
        <p:spPr>
          <a:xfrm>
            <a:off x="11475720" y="256032"/>
            <a:ext cx="384048" cy="347472"/>
          </a:xfrm>
          <a:prstGeom prst="hear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2" name="Connector 31"/>
          <p:cNvCxnSpPr/>
          <p:nvPr/>
        </p:nvCxnSpPr>
        <p:spPr>
          <a:xfrm>
            <a:off x="6774014" y="116967"/>
            <a:ext cx="64008" cy="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1603736" y="374904"/>
            <a:ext cx="36576" cy="73152"/>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640312" y="374904"/>
            <a:ext cx="45720" cy="13716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6920318" y="98679"/>
            <a:ext cx="45720" cy="82296"/>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966038" y="98679"/>
            <a:ext cx="64008" cy="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0" y="0"/>
            <a:ext cx="12192000" cy="109728"/>
          </a:xfrm>
          <a:prstGeom prst="rect">
            <a:avLst/>
          </a:prstGeom>
          <a:solidFill>
            <a:srgbClr val="0A3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Hexagon 46"/>
          <p:cNvSpPr/>
          <p:nvPr/>
        </p:nvSpPr>
        <p:spPr>
          <a:xfrm>
            <a:off x="6472262" y="6270879"/>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Hexagon 47"/>
          <p:cNvSpPr/>
          <p:nvPr/>
        </p:nvSpPr>
        <p:spPr>
          <a:xfrm>
            <a:off x="6472262" y="747903"/>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09728"/>
            <a:ext cx="12192000" cy="6858000"/>
          </a:xfrm>
          <a:prstGeom prst="rect">
            <a:avLst/>
          </a:prstGeom>
        </p:spPr>
      </p:pic>
      <p:sp>
        <p:nvSpPr>
          <p:cNvPr id="49" name="Text 2"/>
          <p:cNvSpPr/>
          <p:nvPr/>
        </p:nvSpPr>
        <p:spPr>
          <a:xfrm>
            <a:off x="296491" y="295946"/>
            <a:ext cx="6158859" cy="457699"/>
          </a:xfrm>
          <a:prstGeom prst="rect">
            <a:avLst/>
          </a:prstGeom>
          <a:solidFill>
            <a:srgbClr val="EBF7FD"/>
          </a:solidFill>
          <a:ln>
            <a:solidFill>
              <a:srgbClr val="BEDEEE"/>
            </a:solidFill>
          </a:ln>
        </p:spPr>
        <p:txBody>
          <a:bodyPr wrap="square" lIns="0" tIns="0" rIns="0" bIns="0" rtlCol="0" anchor="ctr"/>
          <a:lstStyle/>
          <a:p>
            <a:pPr marL="0" indent="0">
              <a:buNone/>
            </a:pPr>
            <a:r>
              <a:rPr lang="en-US" sz="1100" b="1" kern="0" spc="120" dirty="0" smtClean="0">
                <a:solidFill>
                  <a:srgbClr val="0A8BCA"/>
                </a:solidFill>
                <a:latin typeface="Aptos"/>
              </a:rPr>
              <a:t>  TEAM </a:t>
            </a:r>
            <a:r>
              <a:rPr lang="en-US" sz="1100" b="1" kern="0" spc="120" dirty="0">
                <a:solidFill>
                  <a:srgbClr val="0A8BCA"/>
                </a:solidFill>
                <a:latin typeface="Aptos"/>
              </a:rPr>
              <a:t>7  •  CODE </a:t>
            </a:r>
            <a:r>
              <a:rPr lang="en-US" sz="1100" b="1" kern="0" spc="120" dirty="0" smtClean="0">
                <a:solidFill>
                  <a:srgbClr val="0A8BCA"/>
                </a:solidFill>
                <a:latin typeface="Aptos"/>
              </a:rPr>
              <a:t>AVENGERS . Python Hackthon September 2026</a:t>
            </a:r>
            <a:endParaRPr lang="en-US" sz="1100" dirty="0"/>
          </a:p>
        </p:txBody>
      </p:sp>
      <p:sp>
        <p:nvSpPr>
          <p:cNvPr id="50" name="Text 3"/>
          <p:cNvSpPr/>
          <p:nvPr/>
        </p:nvSpPr>
        <p:spPr>
          <a:xfrm>
            <a:off x="296493" y="880474"/>
            <a:ext cx="6158858" cy="901135"/>
          </a:xfrm>
          <a:prstGeom prst="rect">
            <a:avLst/>
          </a:prstGeom>
          <a:solidFill>
            <a:srgbClr val="EBF7FD"/>
          </a:solidFill>
          <a:ln>
            <a:solidFill>
              <a:srgbClr val="BEDEEE"/>
            </a:solidFill>
          </a:ln>
        </p:spPr>
        <p:txBody>
          <a:bodyPr wrap="square" lIns="0" tIns="0" rIns="0" bIns="0" rtlCol="0" anchor="ctr"/>
          <a:lstStyle/>
          <a:p>
            <a:pPr marL="0" indent="0">
              <a:buNone/>
            </a:pPr>
            <a:r>
              <a:rPr lang="en-US" sz="3400" b="1" dirty="0" smtClean="0">
                <a:solidFill>
                  <a:srgbClr val="0A335F"/>
                </a:solidFill>
                <a:latin typeface="Aptos"/>
              </a:rPr>
              <a:t> Heart Failure Analysis </a:t>
            </a:r>
            <a:endParaRPr lang="en-US" sz="3400" dirty="0"/>
          </a:p>
        </p:txBody>
      </p:sp>
      <p:sp>
        <p:nvSpPr>
          <p:cNvPr id="51" name="Text 4"/>
          <p:cNvSpPr/>
          <p:nvPr/>
        </p:nvSpPr>
        <p:spPr>
          <a:xfrm>
            <a:off x="303440" y="1873049"/>
            <a:ext cx="6151911" cy="960120"/>
          </a:xfrm>
          <a:prstGeom prst="rect">
            <a:avLst/>
          </a:prstGeom>
          <a:solidFill>
            <a:srgbClr val="EBF7FD"/>
          </a:solidFill>
          <a:ln>
            <a:solidFill>
              <a:srgbClr val="BEDEEE"/>
            </a:solidFill>
          </a:ln>
        </p:spPr>
        <p:txBody>
          <a:bodyPr wrap="square" lIns="0" tIns="0" rIns="0" bIns="0" rtlCol="0" anchor="ctr"/>
          <a:lstStyle/>
          <a:p>
            <a:r>
              <a:rPr lang="en-US" sz="1600" dirty="0" smtClean="0"/>
              <a:t>A One </a:t>
            </a:r>
            <a:r>
              <a:rPr lang="en-US" sz="1600" dirty="0"/>
              <a:t>Week Python Hackathon to transform complex heart failure data into meaningful clinical insights using Python-based data analysis and visualization.</a:t>
            </a:r>
            <a:endParaRPr lang="en-US" sz="1500" dirty="0"/>
          </a:p>
        </p:txBody>
      </p:sp>
      <p:sp>
        <p:nvSpPr>
          <p:cNvPr id="52" name="Shape 5"/>
          <p:cNvSpPr/>
          <p:nvPr/>
        </p:nvSpPr>
        <p:spPr>
          <a:xfrm>
            <a:off x="290932" y="3030199"/>
            <a:ext cx="1600200" cy="329184"/>
          </a:xfrm>
          <a:prstGeom prst="roundRect">
            <a:avLst>
              <a:gd name="adj" fmla="val 22222"/>
            </a:avLst>
          </a:prstGeom>
          <a:solidFill>
            <a:srgbClr val="EBF7FD"/>
          </a:solidFill>
          <a:ln w="12700">
            <a:solidFill>
              <a:srgbClr val="BEDEEE"/>
            </a:solidFill>
            <a:prstDash val="solid"/>
          </a:ln>
          <a:effectLst>
            <a:outerShdw blurRad="12700" dist="50800" dir="2700000" algn="bl" rotWithShape="0">
              <a:srgbClr val="CBD5E1">
                <a:alpha val="12000"/>
              </a:srgbClr>
            </a:outerShdw>
          </a:effectLst>
        </p:spPr>
        <p:txBody>
          <a:bodyPr/>
          <a:lstStyle/>
          <a:p>
            <a:endParaRPr lang="en-US"/>
          </a:p>
        </p:txBody>
      </p:sp>
      <p:sp>
        <p:nvSpPr>
          <p:cNvPr id="53" name="Text 6"/>
          <p:cNvSpPr/>
          <p:nvPr/>
        </p:nvSpPr>
        <p:spPr>
          <a:xfrm>
            <a:off x="345796" y="3117448"/>
            <a:ext cx="1490472" cy="128016"/>
          </a:xfrm>
          <a:prstGeom prst="rect">
            <a:avLst/>
          </a:prstGeom>
          <a:solidFill>
            <a:srgbClr val="EBF7FD"/>
          </a:solidFill>
          <a:ln>
            <a:noFill/>
          </a:ln>
        </p:spPr>
        <p:txBody>
          <a:bodyPr wrap="square" lIns="0" tIns="0" rIns="0" bIns="0" rtlCol="0" anchor="ctr"/>
          <a:lstStyle/>
          <a:p>
            <a:pPr marL="0" indent="0" algn="ctr">
              <a:buNone/>
            </a:pPr>
            <a:r>
              <a:rPr lang="en-US" sz="900" b="1" dirty="0">
                <a:solidFill>
                  <a:srgbClr val="0A8BCA"/>
                </a:solidFill>
                <a:latin typeface="Aptos"/>
              </a:rPr>
              <a:t>7 DATASETS</a:t>
            </a:r>
            <a:endParaRPr lang="en-US" sz="900" dirty="0"/>
          </a:p>
        </p:txBody>
      </p:sp>
      <p:sp>
        <p:nvSpPr>
          <p:cNvPr id="54" name="Shape 7"/>
          <p:cNvSpPr/>
          <p:nvPr/>
        </p:nvSpPr>
        <p:spPr>
          <a:xfrm>
            <a:off x="2064868" y="3030199"/>
            <a:ext cx="1874520" cy="329184"/>
          </a:xfrm>
          <a:prstGeom prst="roundRect">
            <a:avLst>
              <a:gd name="adj" fmla="val 22222"/>
            </a:avLst>
          </a:prstGeom>
          <a:solidFill>
            <a:srgbClr val="EBF7FD"/>
          </a:solidFill>
          <a:ln w="12700">
            <a:solidFill>
              <a:srgbClr val="BEDEEE"/>
            </a:solidFill>
            <a:prstDash val="solid"/>
          </a:ln>
          <a:effectLst>
            <a:outerShdw blurRad="12700" dist="50800" dir="2700000" algn="bl" rotWithShape="0">
              <a:srgbClr val="CBD5E1">
                <a:alpha val="12000"/>
              </a:srgbClr>
            </a:outerShdw>
          </a:effectLst>
        </p:spPr>
        <p:txBody>
          <a:bodyPr/>
          <a:lstStyle/>
          <a:p>
            <a:endParaRPr lang="en-US"/>
          </a:p>
        </p:txBody>
      </p:sp>
      <p:sp>
        <p:nvSpPr>
          <p:cNvPr id="56" name="Text 8"/>
          <p:cNvSpPr/>
          <p:nvPr/>
        </p:nvSpPr>
        <p:spPr>
          <a:xfrm>
            <a:off x="2119732" y="3126973"/>
            <a:ext cx="1764792" cy="128016"/>
          </a:xfrm>
          <a:prstGeom prst="rect">
            <a:avLst/>
          </a:prstGeom>
          <a:solidFill>
            <a:srgbClr val="EBF7FD"/>
          </a:solidFill>
          <a:ln>
            <a:noFill/>
          </a:ln>
        </p:spPr>
        <p:txBody>
          <a:bodyPr wrap="square" lIns="0" tIns="0" rIns="0" bIns="0" rtlCol="0" anchor="ctr"/>
          <a:lstStyle/>
          <a:p>
            <a:pPr marL="0" indent="0" algn="ctr">
              <a:buNone/>
            </a:pPr>
            <a:r>
              <a:rPr lang="en-US" sz="900" b="1" dirty="0">
                <a:solidFill>
                  <a:srgbClr val="0A8BCA"/>
                </a:solidFill>
                <a:latin typeface="Aptos"/>
              </a:rPr>
              <a:t>2,008 PATIENTS</a:t>
            </a:r>
            <a:endParaRPr lang="en-US" sz="900" dirty="0"/>
          </a:p>
        </p:txBody>
      </p:sp>
      <p:sp>
        <p:nvSpPr>
          <p:cNvPr id="57" name="Shape 9"/>
          <p:cNvSpPr/>
          <p:nvPr/>
        </p:nvSpPr>
        <p:spPr>
          <a:xfrm>
            <a:off x="4113124" y="3030199"/>
            <a:ext cx="2194560" cy="329184"/>
          </a:xfrm>
          <a:prstGeom prst="roundRect">
            <a:avLst>
              <a:gd name="adj" fmla="val 22222"/>
            </a:avLst>
          </a:prstGeom>
          <a:solidFill>
            <a:srgbClr val="EBF7FD"/>
          </a:solidFill>
          <a:ln w="12700">
            <a:solidFill>
              <a:srgbClr val="BEDEEE"/>
            </a:solidFill>
            <a:prstDash val="solid"/>
          </a:ln>
          <a:effectLst>
            <a:outerShdw blurRad="12700" dist="50800" dir="2700000" algn="bl" rotWithShape="0">
              <a:srgbClr val="CBD5E1">
                <a:alpha val="12000"/>
              </a:srgbClr>
            </a:outerShdw>
          </a:effectLst>
        </p:spPr>
        <p:txBody>
          <a:bodyPr/>
          <a:lstStyle/>
          <a:p>
            <a:endParaRPr lang="en-US"/>
          </a:p>
        </p:txBody>
      </p:sp>
      <p:sp>
        <p:nvSpPr>
          <p:cNvPr id="58" name="Text 10"/>
          <p:cNvSpPr/>
          <p:nvPr/>
        </p:nvSpPr>
        <p:spPr>
          <a:xfrm>
            <a:off x="4167988" y="3136498"/>
            <a:ext cx="2084832" cy="128016"/>
          </a:xfrm>
          <a:prstGeom prst="rect">
            <a:avLst/>
          </a:prstGeom>
          <a:solidFill>
            <a:srgbClr val="EBF7FD"/>
          </a:solidFill>
          <a:ln>
            <a:noFill/>
          </a:ln>
        </p:spPr>
        <p:txBody>
          <a:bodyPr wrap="square" lIns="0" tIns="0" rIns="0" bIns="0" rtlCol="0" anchor="ctr"/>
          <a:lstStyle/>
          <a:p>
            <a:pPr marL="0" indent="0" algn="ctr">
              <a:buNone/>
            </a:pPr>
            <a:r>
              <a:rPr lang="en-US" sz="900" b="1" dirty="0">
                <a:solidFill>
                  <a:srgbClr val="0A8BCA"/>
                </a:solidFill>
                <a:latin typeface="Aptos"/>
              </a:rPr>
              <a:t>3 ANALYTICS LAYERS</a:t>
            </a:r>
            <a:endParaRPr lang="en-US" sz="900" dirty="0"/>
          </a:p>
        </p:txBody>
      </p:sp>
      <p:sp>
        <p:nvSpPr>
          <p:cNvPr id="60" name="Hexagon 59"/>
          <p:cNvSpPr/>
          <p:nvPr/>
        </p:nvSpPr>
        <p:spPr>
          <a:xfrm>
            <a:off x="5704166" y="107823"/>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102018" y="4177635"/>
            <a:ext cx="2955647" cy="2723823"/>
          </a:xfrm>
          <a:prstGeom prst="rect">
            <a:avLst/>
          </a:prstGeom>
          <a:noFill/>
        </p:spPr>
        <p:txBody>
          <a:bodyPr wrap="square" rtlCol="0">
            <a:spAutoFit/>
          </a:bodyPr>
          <a:lstStyle/>
          <a:p>
            <a:pPr>
              <a:lnSpc>
                <a:spcPct val="150000"/>
              </a:lnSpc>
            </a:pPr>
            <a:r>
              <a:rPr lang="en-US" sz="2000" b="1" dirty="0" smtClean="0">
                <a:latin typeface="Footlight MT Light" panose="0204060206030A020304" pitchFamily="18" charset="0"/>
              </a:rPr>
              <a:t>Team Members:</a:t>
            </a:r>
          </a:p>
          <a:p>
            <a:pPr marL="342900" indent="-342900">
              <a:lnSpc>
                <a:spcPct val="150000"/>
              </a:lnSpc>
              <a:buFont typeface="Wingdings" panose="05000000000000000000" pitchFamily="2" charset="2"/>
              <a:buChar char="Ø"/>
            </a:pPr>
            <a:r>
              <a:rPr lang="en-US" sz="1900" dirty="0" err="1" smtClean="0">
                <a:latin typeface="Footlight MT Light" panose="0204060206030A020304" pitchFamily="18" charset="0"/>
              </a:rPr>
              <a:t>Neha</a:t>
            </a:r>
            <a:r>
              <a:rPr lang="en-US" sz="1900" dirty="0" smtClean="0">
                <a:latin typeface="Footlight MT Light" panose="0204060206030A020304" pitchFamily="18" charset="0"/>
              </a:rPr>
              <a:t> Jain</a:t>
            </a:r>
          </a:p>
          <a:p>
            <a:pPr marL="342900" indent="-342900">
              <a:lnSpc>
                <a:spcPct val="150000"/>
              </a:lnSpc>
              <a:buFont typeface="Wingdings" panose="05000000000000000000" pitchFamily="2" charset="2"/>
              <a:buChar char="Ø"/>
            </a:pPr>
            <a:r>
              <a:rPr lang="en-US" sz="1900" dirty="0" err="1" smtClean="0">
                <a:latin typeface="Footlight MT Light" panose="0204060206030A020304" pitchFamily="18" charset="0"/>
              </a:rPr>
              <a:t>Sandhya</a:t>
            </a:r>
            <a:r>
              <a:rPr lang="en-US" sz="1900" dirty="0" smtClean="0">
                <a:latin typeface="Footlight MT Light" panose="0204060206030A020304" pitchFamily="18" charset="0"/>
              </a:rPr>
              <a:t> </a:t>
            </a:r>
            <a:r>
              <a:rPr lang="en-US" sz="1900" dirty="0" err="1" smtClean="0">
                <a:latin typeface="Footlight MT Light" panose="0204060206030A020304" pitchFamily="18" charset="0"/>
              </a:rPr>
              <a:t>Kammarinaga</a:t>
            </a:r>
            <a:endParaRPr lang="en-US" sz="1900" dirty="0" smtClean="0">
              <a:latin typeface="Footlight MT Light" panose="0204060206030A020304" pitchFamily="18" charset="0"/>
            </a:endParaRPr>
          </a:p>
          <a:p>
            <a:pPr marL="342900" indent="-342900">
              <a:lnSpc>
                <a:spcPct val="150000"/>
              </a:lnSpc>
              <a:buFont typeface="Wingdings" panose="05000000000000000000" pitchFamily="2" charset="2"/>
              <a:buChar char="Ø"/>
            </a:pPr>
            <a:r>
              <a:rPr lang="en-US" sz="1900" dirty="0" err="1" smtClean="0">
                <a:latin typeface="Footlight MT Light" panose="0204060206030A020304" pitchFamily="18" charset="0"/>
              </a:rPr>
              <a:t>Sucheta</a:t>
            </a:r>
            <a:r>
              <a:rPr lang="en-US" sz="1900" dirty="0" smtClean="0">
                <a:latin typeface="Footlight MT Light" panose="0204060206030A020304" pitchFamily="18" charset="0"/>
              </a:rPr>
              <a:t> </a:t>
            </a:r>
            <a:r>
              <a:rPr lang="en-US" sz="1900" dirty="0" err="1" smtClean="0">
                <a:latin typeface="Footlight MT Light" panose="0204060206030A020304" pitchFamily="18" charset="0"/>
              </a:rPr>
              <a:t>Rai</a:t>
            </a:r>
            <a:endParaRPr lang="en-US" sz="1900" dirty="0" smtClean="0">
              <a:latin typeface="Footlight MT Light" panose="0204060206030A020304" pitchFamily="18" charset="0"/>
            </a:endParaRPr>
          </a:p>
          <a:p>
            <a:pPr marL="342900" indent="-342900">
              <a:lnSpc>
                <a:spcPct val="150000"/>
              </a:lnSpc>
              <a:buFont typeface="Wingdings" panose="05000000000000000000" pitchFamily="2" charset="2"/>
              <a:buChar char="Ø"/>
            </a:pPr>
            <a:r>
              <a:rPr lang="en-US" sz="1900" dirty="0" err="1" smtClean="0">
                <a:latin typeface="Footlight MT Light" panose="0204060206030A020304" pitchFamily="18" charset="0"/>
              </a:rPr>
              <a:t>Suganya</a:t>
            </a:r>
            <a:r>
              <a:rPr lang="en-US" sz="1900" dirty="0" smtClean="0">
                <a:latin typeface="Footlight MT Light" panose="0204060206030A020304" pitchFamily="18" charset="0"/>
              </a:rPr>
              <a:t> </a:t>
            </a:r>
            <a:r>
              <a:rPr lang="en-US" sz="1900" dirty="0" err="1" smtClean="0">
                <a:latin typeface="Footlight MT Light" panose="0204060206030A020304" pitchFamily="18" charset="0"/>
              </a:rPr>
              <a:t>Sekhar</a:t>
            </a:r>
            <a:endParaRPr lang="en-US" sz="1900" dirty="0" smtClean="0">
              <a:latin typeface="Footlight MT Light" panose="0204060206030A020304" pitchFamily="18" charset="0"/>
            </a:endParaRPr>
          </a:p>
          <a:p>
            <a:pPr marL="342900" indent="-342900">
              <a:lnSpc>
                <a:spcPct val="150000"/>
              </a:lnSpc>
              <a:buFont typeface="Wingdings" panose="05000000000000000000" pitchFamily="2" charset="2"/>
              <a:buChar char="Ø"/>
            </a:pPr>
            <a:r>
              <a:rPr lang="en-US" sz="1900" dirty="0" err="1" smtClean="0">
                <a:latin typeface="Footlight MT Light" panose="0204060206030A020304" pitchFamily="18" charset="0"/>
              </a:rPr>
              <a:t>Swithisha</a:t>
            </a:r>
            <a:r>
              <a:rPr lang="en-US" sz="1900" dirty="0" smtClean="0">
                <a:latin typeface="Footlight MT Light" panose="0204060206030A020304" pitchFamily="18" charset="0"/>
              </a:rPr>
              <a:t> </a:t>
            </a:r>
            <a:r>
              <a:rPr lang="en-US" sz="1900" dirty="0" err="1" smtClean="0">
                <a:latin typeface="Footlight MT Light" panose="0204060206030A020304" pitchFamily="18" charset="0"/>
              </a:rPr>
              <a:t>Saraswat</a:t>
            </a:r>
            <a:endParaRPr lang="en-US" sz="1900" dirty="0">
              <a:latin typeface="Footlight MT Light" panose="0204060206030A020304" pitchFamily="18" charset="0"/>
            </a:endParaRPr>
          </a:p>
        </p:txBody>
      </p:sp>
      <p:pic>
        <p:nvPicPr>
          <p:cNvPr id="79" name="Picture 7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32061" y="3498419"/>
            <a:ext cx="3003287" cy="3403039"/>
          </a:xfrm>
          <a:prstGeom prst="rect">
            <a:avLst/>
          </a:prstGeom>
        </p:spPr>
      </p:pic>
    </p:spTree>
    <p:extLst>
      <p:ext uri="{BB962C8B-B14F-4D97-AF65-F5344CB8AC3E}">
        <p14:creationId xmlns:p14="http://schemas.microsoft.com/office/powerpoint/2010/main" val="14499123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E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0584"/>
          </a:xfrm>
          <a:prstGeom prst="rect">
            <a:avLst/>
          </a:prstGeom>
          <a:solidFill>
            <a:srgbClr val="0A3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38912"/>
            <a:ext cx="7440755" cy="477054"/>
          </a:xfrm>
          <a:prstGeom prst="rect">
            <a:avLst/>
          </a:prstGeom>
          <a:noFill/>
        </p:spPr>
        <p:txBody>
          <a:bodyPr wrap="none">
            <a:spAutoFit/>
          </a:bodyPr>
          <a:lstStyle/>
          <a:p>
            <a:r>
              <a:rPr lang="en-US" sz="2500" b="1" dirty="0" smtClean="0">
                <a:solidFill>
                  <a:srgbClr val="0A335F"/>
                </a:solidFill>
                <a:latin typeface="Aptos Display"/>
              </a:rPr>
              <a:t>Seven</a:t>
            </a:r>
            <a:r>
              <a:rPr sz="2500" b="1" dirty="0" smtClean="0">
                <a:solidFill>
                  <a:srgbClr val="0A335F"/>
                </a:solidFill>
                <a:latin typeface="Aptos Display"/>
              </a:rPr>
              <a:t> </a:t>
            </a:r>
            <a:r>
              <a:rPr sz="2500" b="1" dirty="0">
                <a:solidFill>
                  <a:srgbClr val="0A335F"/>
                </a:solidFill>
                <a:latin typeface="Aptos Display"/>
              </a:rPr>
              <a:t>Days. One Connected Analytics Pipeline.</a:t>
            </a:r>
          </a:p>
        </p:txBody>
      </p:sp>
      <p:sp>
        <p:nvSpPr>
          <p:cNvPr id="4" name="TextBox 3"/>
          <p:cNvSpPr txBox="1"/>
          <p:nvPr/>
        </p:nvSpPr>
        <p:spPr>
          <a:xfrm>
            <a:off x="658368" y="1078992"/>
            <a:ext cx="9891554" cy="338554"/>
          </a:xfrm>
          <a:prstGeom prst="rect">
            <a:avLst/>
          </a:prstGeom>
          <a:noFill/>
        </p:spPr>
        <p:txBody>
          <a:bodyPr wrap="none">
            <a:spAutoFit/>
          </a:bodyPr>
          <a:lstStyle/>
          <a:p>
            <a:r>
              <a:rPr sz="1600" dirty="0">
                <a:solidFill>
                  <a:schemeClr val="tx2">
                    <a:lumMod val="50000"/>
                  </a:schemeClr>
                </a:solidFill>
                <a:latin typeface="Aptos"/>
              </a:rPr>
              <a:t>We deliberately built the project in layers</a:t>
            </a:r>
            <a:r>
              <a:rPr lang="en-US" sz="1600" dirty="0">
                <a:solidFill>
                  <a:schemeClr val="tx2">
                    <a:lumMod val="50000"/>
                  </a:schemeClr>
                </a:solidFill>
                <a:latin typeface="Aptos"/>
              </a:rPr>
              <a:t>,</a:t>
            </a:r>
            <a:r>
              <a:rPr sz="1600" dirty="0">
                <a:solidFill>
                  <a:schemeClr val="tx2">
                    <a:lumMod val="50000"/>
                  </a:schemeClr>
                </a:solidFill>
                <a:latin typeface="Aptos"/>
              </a:rPr>
              <a:t> so every later decision was grounded in a clean, understood dataset.</a:t>
            </a:r>
          </a:p>
        </p:txBody>
      </p:sp>
      <p:cxnSp>
        <p:nvCxnSpPr>
          <p:cNvPr id="5" name="Connector 4"/>
          <p:cNvCxnSpPr/>
          <p:nvPr/>
        </p:nvCxnSpPr>
        <p:spPr>
          <a:xfrm>
            <a:off x="5806440" y="1673352"/>
            <a:ext cx="0" cy="3995928"/>
          </a:xfrm>
          <a:prstGeom prst="line">
            <a:avLst/>
          </a:prstGeom>
          <a:ln w="25400">
            <a:solidFill>
              <a:srgbClr val="BEDEEE"/>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5623560" y="1691639"/>
            <a:ext cx="365760" cy="365760"/>
          </a:xfrm>
          <a:prstGeom prst="ellipse">
            <a:avLst/>
          </a:prstGeom>
          <a:solidFill>
            <a:srgbClr val="FCFEFF"/>
          </a:solidFill>
          <a:ln w="21590">
            <a:solidFill>
              <a:srgbClr val="37B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A335F"/>
                </a:solidFill>
                <a:latin typeface="Aptos"/>
              </a:rPr>
              <a:t>1</a:t>
            </a:r>
          </a:p>
        </p:txBody>
      </p:sp>
      <p:cxnSp>
        <p:nvCxnSpPr>
          <p:cNvPr id="7" name="Connector 6"/>
          <p:cNvCxnSpPr/>
          <p:nvPr/>
        </p:nvCxnSpPr>
        <p:spPr>
          <a:xfrm>
            <a:off x="5148072" y="1874519"/>
            <a:ext cx="475488" cy="0"/>
          </a:xfrm>
          <a:prstGeom prst="line">
            <a:avLst/>
          </a:prstGeom>
          <a:ln w="17780">
            <a:solidFill>
              <a:srgbClr val="37BCE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04672" y="1709927"/>
            <a:ext cx="4160520" cy="292608"/>
          </a:xfrm>
          <a:prstGeom prst="rect">
            <a:avLst/>
          </a:prstGeom>
          <a:noFill/>
        </p:spPr>
        <p:txBody>
          <a:bodyPr wrap="none">
            <a:spAutoFit/>
          </a:bodyPr>
          <a:lstStyle/>
          <a:p>
            <a:pPr algn="r"/>
            <a:r>
              <a:rPr sz="1200" b="1">
                <a:solidFill>
                  <a:srgbClr val="0A335F"/>
                </a:solidFill>
                <a:latin typeface="Aptos"/>
              </a:rPr>
              <a:t>Day 1</a:t>
            </a:r>
          </a:p>
        </p:txBody>
      </p:sp>
      <p:sp>
        <p:nvSpPr>
          <p:cNvPr id="9" name="TextBox 8"/>
          <p:cNvSpPr txBox="1"/>
          <p:nvPr/>
        </p:nvSpPr>
        <p:spPr>
          <a:xfrm>
            <a:off x="515768" y="2039111"/>
            <a:ext cx="4449424" cy="307777"/>
          </a:xfrm>
          <a:prstGeom prst="rect">
            <a:avLst/>
          </a:prstGeom>
          <a:noFill/>
        </p:spPr>
        <p:txBody>
          <a:bodyPr wrap="none">
            <a:spAutoFit/>
          </a:bodyPr>
          <a:lstStyle/>
          <a:p>
            <a:pPr algn="r"/>
            <a:r>
              <a:rPr sz="1400" dirty="0">
                <a:solidFill>
                  <a:schemeClr val="tx2">
                    <a:lumMod val="50000"/>
                  </a:schemeClr>
                </a:solidFill>
                <a:latin typeface="Aptos"/>
              </a:rPr>
              <a:t>Mapped 7 clinical tables, keys, variables and outcomes</a:t>
            </a:r>
          </a:p>
        </p:txBody>
      </p:sp>
      <p:sp>
        <p:nvSpPr>
          <p:cNvPr id="10" name="Oval 9"/>
          <p:cNvSpPr/>
          <p:nvPr/>
        </p:nvSpPr>
        <p:spPr>
          <a:xfrm>
            <a:off x="5623560" y="2514600"/>
            <a:ext cx="365760" cy="365760"/>
          </a:xfrm>
          <a:prstGeom prst="ellipse">
            <a:avLst/>
          </a:prstGeom>
          <a:solidFill>
            <a:srgbClr val="FCFEFF"/>
          </a:solidFill>
          <a:ln w="21590">
            <a:solidFill>
              <a:srgbClr val="37B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A335F"/>
                </a:solidFill>
                <a:latin typeface="Aptos"/>
              </a:rPr>
              <a:t>2</a:t>
            </a:r>
          </a:p>
        </p:txBody>
      </p:sp>
      <p:cxnSp>
        <p:nvCxnSpPr>
          <p:cNvPr id="11" name="Connector 10"/>
          <p:cNvCxnSpPr/>
          <p:nvPr/>
        </p:nvCxnSpPr>
        <p:spPr>
          <a:xfrm>
            <a:off x="5989320" y="2697480"/>
            <a:ext cx="475488" cy="0"/>
          </a:xfrm>
          <a:prstGeom prst="line">
            <a:avLst/>
          </a:prstGeom>
          <a:ln w="17780">
            <a:solidFill>
              <a:srgbClr val="37BCE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601968" y="2532888"/>
            <a:ext cx="4343400" cy="292608"/>
          </a:xfrm>
          <a:prstGeom prst="rect">
            <a:avLst/>
          </a:prstGeom>
          <a:noFill/>
        </p:spPr>
        <p:txBody>
          <a:bodyPr wrap="none">
            <a:spAutoFit/>
          </a:bodyPr>
          <a:lstStyle/>
          <a:p>
            <a:r>
              <a:rPr sz="1200" b="1" dirty="0">
                <a:solidFill>
                  <a:srgbClr val="0A335F"/>
                </a:solidFill>
                <a:latin typeface="Aptos"/>
              </a:rPr>
              <a:t>Day 2</a:t>
            </a:r>
          </a:p>
        </p:txBody>
      </p:sp>
      <p:sp>
        <p:nvSpPr>
          <p:cNvPr id="13" name="TextBox 12"/>
          <p:cNvSpPr txBox="1"/>
          <p:nvPr/>
        </p:nvSpPr>
        <p:spPr>
          <a:xfrm>
            <a:off x="6523629" y="2846903"/>
            <a:ext cx="5358019" cy="523220"/>
          </a:xfrm>
          <a:prstGeom prst="rect">
            <a:avLst/>
          </a:prstGeom>
          <a:noFill/>
        </p:spPr>
        <p:txBody>
          <a:bodyPr wrap="square">
            <a:spAutoFit/>
          </a:bodyPr>
          <a:lstStyle/>
          <a:p>
            <a:r>
              <a:rPr sz="1400" dirty="0">
                <a:solidFill>
                  <a:srgbClr val="23415B"/>
                </a:solidFill>
                <a:latin typeface="Aptos"/>
              </a:rPr>
              <a:t>Standardized fields, handled missing values and produced reusable clean datasets</a:t>
            </a:r>
          </a:p>
        </p:txBody>
      </p:sp>
      <p:sp>
        <p:nvSpPr>
          <p:cNvPr id="14" name="Oval 13"/>
          <p:cNvSpPr/>
          <p:nvPr/>
        </p:nvSpPr>
        <p:spPr>
          <a:xfrm>
            <a:off x="5623560" y="3337560"/>
            <a:ext cx="365760" cy="365760"/>
          </a:xfrm>
          <a:prstGeom prst="ellipse">
            <a:avLst/>
          </a:prstGeom>
          <a:solidFill>
            <a:srgbClr val="FCFEFF"/>
          </a:solidFill>
          <a:ln w="21590">
            <a:solidFill>
              <a:srgbClr val="37B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A335F"/>
                </a:solidFill>
                <a:latin typeface="Aptos"/>
              </a:rPr>
              <a:t>3</a:t>
            </a:r>
          </a:p>
        </p:txBody>
      </p:sp>
      <p:cxnSp>
        <p:nvCxnSpPr>
          <p:cNvPr id="15" name="Connector 14"/>
          <p:cNvCxnSpPr/>
          <p:nvPr/>
        </p:nvCxnSpPr>
        <p:spPr>
          <a:xfrm>
            <a:off x="5148072" y="3520440"/>
            <a:ext cx="475488" cy="0"/>
          </a:xfrm>
          <a:prstGeom prst="line">
            <a:avLst/>
          </a:prstGeom>
          <a:ln w="17780">
            <a:solidFill>
              <a:srgbClr val="37BCE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04672" y="3355848"/>
            <a:ext cx="4160520" cy="292608"/>
          </a:xfrm>
          <a:prstGeom prst="rect">
            <a:avLst/>
          </a:prstGeom>
          <a:noFill/>
        </p:spPr>
        <p:txBody>
          <a:bodyPr wrap="none">
            <a:spAutoFit/>
          </a:bodyPr>
          <a:lstStyle/>
          <a:p>
            <a:pPr algn="r"/>
            <a:r>
              <a:rPr sz="1200" b="1">
                <a:solidFill>
                  <a:srgbClr val="0A335F"/>
                </a:solidFill>
                <a:latin typeface="Aptos"/>
              </a:rPr>
              <a:t>Days 3–4</a:t>
            </a:r>
          </a:p>
        </p:txBody>
      </p:sp>
      <p:sp>
        <p:nvSpPr>
          <p:cNvPr id="17" name="TextBox 16"/>
          <p:cNvSpPr txBox="1"/>
          <p:nvPr/>
        </p:nvSpPr>
        <p:spPr>
          <a:xfrm>
            <a:off x="515768" y="3685032"/>
            <a:ext cx="4449423" cy="523220"/>
          </a:xfrm>
          <a:prstGeom prst="rect">
            <a:avLst/>
          </a:prstGeom>
          <a:noFill/>
        </p:spPr>
        <p:txBody>
          <a:bodyPr wrap="square">
            <a:spAutoFit/>
          </a:bodyPr>
          <a:lstStyle/>
          <a:p>
            <a:r>
              <a:rPr sz="1400" dirty="0">
                <a:solidFill>
                  <a:schemeClr val="tx2">
                    <a:lumMod val="50000"/>
                  </a:schemeClr>
                </a:solidFill>
                <a:latin typeface="Aptos"/>
              </a:rPr>
              <a:t>Built descriptive, prescriptive and predictive analyses across clinical domains</a:t>
            </a:r>
          </a:p>
        </p:txBody>
      </p:sp>
      <p:sp>
        <p:nvSpPr>
          <p:cNvPr id="18" name="Oval 17"/>
          <p:cNvSpPr/>
          <p:nvPr/>
        </p:nvSpPr>
        <p:spPr>
          <a:xfrm>
            <a:off x="5623560" y="4160520"/>
            <a:ext cx="365760" cy="365760"/>
          </a:xfrm>
          <a:prstGeom prst="ellipse">
            <a:avLst/>
          </a:prstGeom>
          <a:solidFill>
            <a:srgbClr val="FCFEFF"/>
          </a:solidFill>
          <a:ln w="21590">
            <a:solidFill>
              <a:srgbClr val="37B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A335F"/>
                </a:solidFill>
                <a:latin typeface="Aptos"/>
              </a:rPr>
              <a:t>4</a:t>
            </a:r>
          </a:p>
        </p:txBody>
      </p:sp>
      <p:cxnSp>
        <p:nvCxnSpPr>
          <p:cNvPr id="19" name="Connector 18"/>
          <p:cNvCxnSpPr/>
          <p:nvPr/>
        </p:nvCxnSpPr>
        <p:spPr>
          <a:xfrm>
            <a:off x="5989320" y="4343400"/>
            <a:ext cx="475488" cy="0"/>
          </a:xfrm>
          <a:prstGeom prst="line">
            <a:avLst/>
          </a:prstGeom>
          <a:ln w="17780">
            <a:solidFill>
              <a:srgbClr val="37BCE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601968" y="4178808"/>
            <a:ext cx="4343400" cy="292608"/>
          </a:xfrm>
          <a:prstGeom prst="rect">
            <a:avLst/>
          </a:prstGeom>
          <a:noFill/>
        </p:spPr>
        <p:txBody>
          <a:bodyPr wrap="none">
            <a:spAutoFit/>
          </a:bodyPr>
          <a:lstStyle/>
          <a:p>
            <a:r>
              <a:rPr sz="1200" b="1">
                <a:solidFill>
                  <a:srgbClr val="0A335F"/>
                </a:solidFill>
                <a:latin typeface="Aptos"/>
              </a:rPr>
              <a:t>Days 5–6</a:t>
            </a:r>
          </a:p>
        </p:txBody>
      </p:sp>
      <p:sp>
        <p:nvSpPr>
          <p:cNvPr id="21" name="TextBox 20"/>
          <p:cNvSpPr txBox="1"/>
          <p:nvPr/>
        </p:nvSpPr>
        <p:spPr>
          <a:xfrm>
            <a:off x="6555476" y="4507992"/>
            <a:ext cx="4801372" cy="523220"/>
          </a:xfrm>
          <a:prstGeom prst="rect">
            <a:avLst/>
          </a:prstGeom>
          <a:noFill/>
        </p:spPr>
        <p:txBody>
          <a:bodyPr wrap="square">
            <a:spAutoFit/>
          </a:bodyPr>
          <a:lstStyle/>
          <a:p>
            <a:r>
              <a:rPr sz="1400" dirty="0">
                <a:solidFill>
                  <a:schemeClr val="tx2">
                    <a:lumMod val="50000"/>
                  </a:schemeClr>
                </a:solidFill>
                <a:latin typeface="Aptos"/>
              </a:rPr>
              <a:t>Consolidated team notebooks; strongest findings into one decision-focused dashboard</a:t>
            </a:r>
          </a:p>
        </p:txBody>
      </p:sp>
      <p:sp>
        <p:nvSpPr>
          <p:cNvPr id="22" name="Oval 21"/>
          <p:cNvSpPr/>
          <p:nvPr/>
        </p:nvSpPr>
        <p:spPr>
          <a:xfrm>
            <a:off x="5623560" y="4983480"/>
            <a:ext cx="365760" cy="365760"/>
          </a:xfrm>
          <a:prstGeom prst="ellipse">
            <a:avLst/>
          </a:prstGeom>
          <a:solidFill>
            <a:srgbClr val="FCFEFF"/>
          </a:solidFill>
          <a:ln w="21590">
            <a:solidFill>
              <a:srgbClr val="37B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A335F"/>
                </a:solidFill>
                <a:latin typeface="Aptos"/>
              </a:rPr>
              <a:t>5</a:t>
            </a:r>
          </a:p>
        </p:txBody>
      </p:sp>
      <p:cxnSp>
        <p:nvCxnSpPr>
          <p:cNvPr id="23" name="Connector 22"/>
          <p:cNvCxnSpPr/>
          <p:nvPr/>
        </p:nvCxnSpPr>
        <p:spPr>
          <a:xfrm>
            <a:off x="5148072" y="5166360"/>
            <a:ext cx="475488" cy="0"/>
          </a:xfrm>
          <a:prstGeom prst="line">
            <a:avLst/>
          </a:prstGeom>
          <a:ln w="17780">
            <a:solidFill>
              <a:srgbClr val="37BCE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04672" y="5001768"/>
            <a:ext cx="4160520" cy="292608"/>
          </a:xfrm>
          <a:prstGeom prst="rect">
            <a:avLst/>
          </a:prstGeom>
          <a:noFill/>
        </p:spPr>
        <p:txBody>
          <a:bodyPr wrap="none">
            <a:spAutoFit/>
          </a:bodyPr>
          <a:lstStyle/>
          <a:p>
            <a:pPr algn="r"/>
            <a:r>
              <a:rPr sz="1200" b="1">
                <a:solidFill>
                  <a:srgbClr val="0A335F"/>
                </a:solidFill>
                <a:latin typeface="Aptos"/>
              </a:rPr>
              <a:t>Day 7</a:t>
            </a:r>
          </a:p>
        </p:txBody>
      </p:sp>
      <p:sp>
        <p:nvSpPr>
          <p:cNvPr id="25" name="TextBox 24"/>
          <p:cNvSpPr txBox="1"/>
          <p:nvPr/>
        </p:nvSpPr>
        <p:spPr>
          <a:xfrm>
            <a:off x="354842" y="5356372"/>
            <a:ext cx="5157489" cy="523220"/>
          </a:xfrm>
          <a:prstGeom prst="rect">
            <a:avLst/>
          </a:prstGeom>
          <a:noFill/>
        </p:spPr>
        <p:txBody>
          <a:bodyPr wrap="square">
            <a:spAutoFit/>
          </a:bodyPr>
          <a:lstStyle/>
          <a:p>
            <a:r>
              <a:rPr sz="1400" dirty="0">
                <a:solidFill>
                  <a:schemeClr val="tx2">
                    <a:lumMod val="50000"/>
                  </a:schemeClr>
                </a:solidFill>
                <a:latin typeface="Aptos"/>
              </a:rPr>
              <a:t>Present the complete </a:t>
            </a:r>
            <a:r>
              <a:rPr sz="1400" dirty="0" err="1">
                <a:solidFill>
                  <a:schemeClr val="tx2">
                    <a:lumMod val="50000"/>
                  </a:schemeClr>
                </a:solidFill>
                <a:latin typeface="Aptos"/>
              </a:rPr>
              <a:t>hackathon</a:t>
            </a:r>
            <a:r>
              <a:rPr sz="1400" dirty="0">
                <a:solidFill>
                  <a:schemeClr val="tx2">
                    <a:lumMod val="50000"/>
                  </a:schemeClr>
                </a:solidFill>
                <a:latin typeface="Aptos"/>
              </a:rPr>
              <a:t> journey, key analytical insights, predictive outcomes, and dashboard</a:t>
            </a:r>
          </a:p>
        </p:txBody>
      </p:sp>
      <p:sp>
        <p:nvSpPr>
          <p:cNvPr id="26" name="Rounded Rectangle 25"/>
          <p:cNvSpPr/>
          <p:nvPr/>
        </p:nvSpPr>
        <p:spPr>
          <a:xfrm>
            <a:off x="804672" y="5973038"/>
            <a:ext cx="10716768" cy="455420"/>
          </a:xfrm>
          <a:prstGeom prst="round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32688" y="6126480"/>
            <a:ext cx="164592" cy="164592"/>
          </a:xfrm>
          <a:prstGeom prst="ellipse">
            <a:avLst/>
          </a:prstGeom>
          <a:solidFill>
            <a:srgbClr val="FCFEFF"/>
          </a:solidFill>
          <a:ln w="15240">
            <a:solidFill>
              <a:srgbClr val="2F99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261872" y="6042279"/>
            <a:ext cx="8397684" cy="338554"/>
          </a:xfrm>
          <a:prstGeom prst="rect">
            <a:avLst/>
          </a:prstGeom>
          <a:noFill/>
        </p:spPr>
        <p:txBody>
          <a:bodyPr wrap="none">
            <a:spAutoFit/>
          </a:bodyPr>
          <a:lstStyle/>
          <a:p>
            <a:r>
              <a:rPr sz="1600" b="1" dirty="0">
                <a:solidFill>
                  <a:srgbClr val="0A335F"/>
                </a:solidFill>
                <a:latin typeface="Aptos"/>
              </a:rPr>
              <a:t>Result: </a:t>
            </a:r>
            <a:r>
              <a:rPr sz="1600" dirty="0">
                <a:solidFill>
                  <a:srgbClr val="23415B"/>
                </a:solidFill>
                <a:latin typeface="Aptos"/>
              </a:rPr>
              <a:t>From raw clinical data to meaningful insights — one structured, </a:t>
            </a:r>
            <a:r>
              <a:rPr sz="1600" dirty="0">
                <a:solidFill>
                  <a:schemeClr val="tx2">
                    <a:lumMod val="50000"/>
                  </a:schemeClr>
                </a:solidFill>
                <a:latin typeface="Aptos"/>
              </a:rPr>
              <a:t>collaborative</a:t>
            </a:r>
            <a:r>
              <a:rPr sz="1600" dirty="0">
                <a:solidFill>
                  <a:srgbClr val="23415B"/>
                </a:solidFill>
                <a:latin typeface="Aptos"/>
              </a:rPr>
              <a:t> journey.</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22" name="Rectangle 21"/>
          <p:cNvSpPr/>
          <p:nvPr/>
        </p:nvSpPr>
        <p:spPr>
          <a:xfrm>
            <a:off x="11795760" y="0"/>
            <a:ext cx="393192" cy="6858000"/>
          </a:xfrm>
          <a:prstGeom prst="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0"/>
            <a:ext cx="164592" cy="6858000"/>
          </a:xfrm>
          <a:prstGeom prst="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02920" y="256032"/>
            <a:ext cx="11155680" cy="50292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162B3E"/>
                </a:solidFill>
                <a:latin typeface="Aptos Display"/>
              </a:defRPr>
            </a:pPr>
            <a:r>
              <a:rPr kumimoji="0" sz="2400" b="1" i="0" u="none" strike="noStrike" kern="1200" cap="none" spc="0" normalizeH="0" baseline="0" noProof="0">
                <a:ln>
                  <a:noFill/>
                </a:ln>
                <a:solidFill>
                  <a:srgbClr val="0A335F"/>
                </a:solidFill>
                <a:effectLst/>
                <a:uLnTx/>
                <a:uFillTx/>
                <a:latin typeface="Aptos"/>
                <a:ea typeface="+mn-ea"/>
                <a:cs typeface="+mn-cs"/>
              </a:rPr>
              <a:t>Data Understanding &amp; Data Cleaning — Building a Reliable Foundation</a:t>
            </a:r>
          </a:p>
        </p:txBody>
      </p:sp>
      <p:sp>
        <p:nvSpPr>
          <p:cNvPr id="3" name="Rounded Rectangle 2"/>
          <p:cNvSpPr/>
          <p:nvPr/>
        </p:nvSpPr>
        <p:spPr>
          <a:xfrm>
            <a:off x="502920" y="841248"/>
            <a:ext cx="11155680" cy="713232"/>
          </a:xfrm>
          <a:prstGeom prst="round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350" b="1">
                <a:solidFill>
                  <a:srgbClr val="00796B"/>
                </a:solidFill>
                <a:latin typeface="Aptos"/>
              </a:defRPr>
            </a:pPr>
            <a:r>
              <a:rPr kumimoji="0" sz="1350" b="1" i="0" u="none" strike="noStrike" kern="1200" cap="none" spc="0" normalizeH="0" baseline="0" noProof="0">
                <a:ln>
                  <a:noFill/>
                </a:ln>
                <a:solidFill>
                  <a:srgbClr val="0A8BCA"/>
                </a:solidFill>
                <a:effectLst/>
                <a:uLnTx/>
                <a:uFillTx/>
                <a:latin typeface="Aptos"/>
                <a:ea typeface="+mn-ea"/>
                <a:cs typeface="+mn-cs"/>
              </a:rPr>
              <a:t>OBJECTIVE  •  Understand the structure, patient keys and clinical domains first — then standardize and validate the data before any analysis.</a:t>
            </a:r>
          </a:p>
        </p:txBody>
      </p:sp>
      <p:sp>
        <p:nvSpPr>
          <p:cNvPr id="4" name="Rounded Rectangle 3"/>
          <p:cNvSpPr/>
          <p:nvPr/>
        </p:nvSpPr>
        <p:spPr>
          <a:xfrm>
            <a:off x="502920" y="1783080"/>
            <a:ext cx="5486400" cy="4343400"/>
          </a:xfrm>
          <a:prstGeom prst="roundRect">
            <a:avLst>
              <a:gd name="adj" fmla="val 5263"/>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a:ea typeface="+mn-ea"/>
              <a:cs typeface="+mn-cs"/>
            </a:endParaRPr>
          </a:p>
        </p:txBody>
      </p:sp>
      <p:sp>
        <p:nvSpPr>
          <p:cNvPr id="5" name="TextBox 4"/>
          <p:cNvSpPr txBox="1"/>
          <p:nvPr/>
        </p:nvSpPr>
        <p:spPr>
          <a:xfrm>
            <a:off x="749808" y="1938528"/>
            <a:ext cx="4983480" cy="34747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b="1">
                <a:solidFill>
                  <a:srgbClr val="162B3E"/>
                </a:solidFill>
                <a:latin typeface="Aptos"/>
              </a:defRPr>
            </a:pPr>
            <a:r>
              <a:rPr kumimoji="0" sz="1600" b="1" i="0" u="none" strike="noStrike" kern="1200" cap="none" spc="0" normalizeH="0" baseline="0" noProof="0">
                <a:ln>
                  <a:noFill/>
                </a:ln>
                <a:solidFill>
                  <a:srgbClr val="0A8BCA"/>
                </a:solidFill>
                <a:effectLst/>
                <a:uLnTx/>
                <a:uFillTx/>
                <a:latin typeface="Aptos"/>
                <a:ea typeface="+mn-ea"/>
                <a:cs typeface="+mn-cs"/>
              </a:rPr>
              <a:t>1  DATA UNDERSTANDING</a:t>
            </a:r>
          </a:p>
        </p:txBody>
      </p:sp>
      <p:pic>
        <p:nvPicPr>
          <p:cNvPr id="6" name="Picture 5" descr="data_understanding_cleaning.png"/>
          <p:cNvPicPr>
            <a:picLocks noChangeAspect="1"/>
          </p:cNvPicPr>
          <p:nvPr/>
        </p:nvPicPr>
        <p:blipFill>
          <a:blip r:embed="rId3"/>
          <a:stretch>
            <a:fillRect/>
          </a:stretch>
        </p:blipFill>
        <p:spPr>
          <a:xfrm>
            <a:off x="749808" y="2350008"/>
            <a:ext cx="4983480" cy="2212848"/>
          </a:xfrm>
          <a:prstGeom prst="rect">
            <a:avLst/>
          </a:prstGeom>
        </p:spPr>
      </p:pic>
      <p:sp>
        <p:nvSpPr>
          <p:cNvPr id="7" name="Rounded Rectangle 6"/>
          <p:cNvSpPr/>
          <p:nvPr/>
        </p:nvSpPr>
        <p:spPr>
          <a:xfrm>
            <a:off x="749808" y="4709160"/>
            <a:ext cx="4983480" cy="1115568"/>
          </a:xfrm>
          <a:prstGeom prst="round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200" b="1">
                <a:solidFill>
                  <a:srgbClr val="00796B"/>
                </a:solidFill>
              </a:defRPr>
            </a:pPr>
            <a:r>
              <a:rPr kumimoji="0" sz="1200" b="1" i="0" u="none" strike="noStrike" kern="1200" cap="none" spc="0" normalizeH="0" baseline="0" noProof="0">
                <a:ln>
                  <a:noFill/>
                </a:ln>
                <a:solidFill>
                  <a:srgbClr val="0A8BCA"/>
                </a:solidFill>
                <a:effectLst/>
                <a:uLnTx/>
                <a:uFillTx/>
                <a:latin typeface="Aptos"/>
                <a:ea typeface="+mn-ea"/>
                <a:cs typeface="+mn-cs"/>
              </a:rPr>
              <a:t>KEY DATA PROFILE</a:t>
            </a:r>
          </a:p>
          <a:p>
            <a:pPr marL="0" marR="0" lvl="0" indent="0" algn="l" defTabSz="914400" rtl="0" eaLnBrk="1" fontAlgn="auto" latinLnBrk="0" hangingPunct="1">
              <a:lnSpc>
                <a:spcPct val="100000"/>
              </a:lnSpc>
              <a:spcBef>
                <a:spcPts val="0"/>
              </a:spcBef>
              <a:spcAft>
                <a:spcPts val="0"/>
              </a:spcAft>
              <a:buClrTx/>
              <a:buSzTx/>
              <a:buFontTx/>
              <a:buNone/>
              <a:tabLst/>
              <a:defRPr sz="1120">
                <a:solidFill>
                  <a:srgbClr val="162B3E"/>
                </a:solidFill>
              </a:defRPr>
            </a:pPr>
            <a:r>
              <a:rPr kumimoji="0" sz="1120" b="0" i="0" u="none" strike="noStrike" kern="1200" cap="none" spc="0" normalizeH="0" baseline="0" noProof="0">
                <a:ln>
                  <a:noFill/>
                </a:ln>
                <a:solidFill>
                  <a:srgbClr val="1C3A56"/>
                </a:solidFill>
                <a:effectLst/>
                <a:uLnTx/>
                <a:uFillTx/>
                <a:latin typeface="Aptos"/>
                <a:ea typeface="+mn-ea"/>
                <a:cs typeface="+mn-cs"/>
              </a:rPr>
              <a:t>6 patient-level tables: 2,008 rows each  •  Labs: 107 columns</a:t>
            </a:r>
          </a:p>
          <a:p>
            <a:pPr marL="0" marR="0" lvl="0" indent="0" algn="l" defTabSz="914400" rtl="0" eaLnBrk="1" fontAlgn="auto" latinLnBrk="0" hangingPunct="1">
              <a:lnSpc>
                <a:spcPct val="100000"/>
              </a:lnSpc>
              <a:spcBef>
                <a:spcPts val="0"/>
              </a:spcBef>
              <a:spcAft>
                <a:spcPts val="0"/>
              </a:spcAft>
              <a:buClrTx/>
              <a:buSzTx/>
              <a:buFontTx/>
              <a:buNone/>
              <a:tabLst/>
              <a:defRPr sz="1120">
                <a:solidFill>
                  <a:srgbClr val="162B3E"/>
                </a:solidFill>
              </a:defRPr>
            </a:pPr>
            <a:r>
              <a:rPr kumimoji="0" sz="1120" b="0" i="0" u="none" strike="noStrike" kern="1200" cap="none" spc="0" normalizeH="0" baseline="0" noProof="0">
                <a:ln>
                  <a:noFill/>
                </a:ln>
                <a:solidFill>
                  <a:srgbClr val="1C3A56"/>
                </a:solidFill>
                <a:effectLst/>
                <a:uLnTx/>
                <a:uFillTx/>
                <a:latin typeface="Aptos"/>
                <a:ea typeface="+mn-ea"/>
                <a:cs typeface="+mn-cs"/>
              </a:rPr>
              <a:t>Prescriptions: 15,362 patient–drug rows  •  25 unique medications</a:t>
            </a:r>
          </a:p>
        </p:txBody>
      </p:sp>
      <p:sp>
        <p:nvSpPr>
          <p:cNvPr id="8" name="Rounded Rectangle 7"/>
          <p:cNvSpPr/>
          <p:nvPr/>
        </p:nvSpPr>
        <p:spPr>
          <a:xfrm>
            <a:off x="6144768" y="1783080"/>
            <a:ext cx="5513832" cy="4343400"/>
          </a:xfrm>
          <a:prstGeom prst="roundRect">
            <a:avLst>
              <a:gd name="adj" fmla="val 3509"/>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Aptos"/>
              <a:ea typeface="+mn-ea"/>
              <a:cs typeface="+mn-cs"/>
            </a:endParaRPr>
          </a:p>
        </p:txBody>
      </p:sp>
      <p:sp>
        <p:nvSpPr>
          <p:cNvPr id="9" name="TextBox 8"/>
          <p:cNvSpPr txBox="1"/>
          <p:nvPr/>
        </p:nvSpPr>
        <p:spPr>
          <a:xfrm>
            <a:off x="6391656" y="1938528"/>
            <a:ext cx="5010912" cy="34747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b="1">
                <a:solidFill>
                  <a:srgbClr val="162B3E"/>
                </a:solidFill>
                <a:latin typeface="Aptos"/>
              </a:defRPr>
            </a:pPr>
            <a:r>
              <a:rPr kumimoji="0" sz="1600" b="1" i="0" u="none" strike="noStrike" kern="1200" cap="none" spc="0" normalizeH="0" baseline="0" noProof="0">
                <a:ln>
                  <a:noFill/>
                </a:ln>
                <a:solidFill>
                  <a:srgbClr val="0A8BCA"/>
                </a:solidFill>
                <a:effectLst/>
                <a:uLnTx/>
                <a:uFillTx/>
                <a:latin typeface="Aptos"/>
                <a:ea typeface="+mn-ea"/>
                <a:cs typeface="+mn-cs"/>
              </a:rPr>
              <a:t>2  DATA CLEANING &amp; VALIDATION</a:t>
            </a:r>
          </a:p>
        </p:txBody>
      </p:sp>
      <p:sp>
        <p:nvSpPr>
          <p:cNvPr id="10" name="Oval 9"/>
          <p:cNvSpPr/>
          <p:nvPr/>
        </p:nvSpPr>
        <p:spPr>
          <a:xfrm>
            <a:off x="6419088" y="2395728"/>
            <a:ext cx="329184" cy="329184"/>
          </a:xfrm>
          <a:prstGeom prst="ellipse">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300" b="1">
                <a:solidFill>
                  <a:srgbClr val="FFFFFF"/>
                </a:solidFill>
              </a:defRPr>
            </a:pPr>
            <a:r>
              <a:rPr kumimoji="0" sz="1300" b="1" i="0" u="none" strike="noStrike" kern="1200" cap="none" spc="0" normalizeH="0" baseline="0" noProof="0">
                <a:ln>
                  <a:noFill/>
                </a:ln>
                <a:solidFill>
                  <a:srgbClr val="1C3A56"/>
                </a:solidFill>
                <a:effectLst/>
                <a:uLnTx/>
                <a:uFillTx/>
                <a:latin typeface="Aptos"/>
                <a:ea typeface="+mn-ea"/>
                <a:cs typeface="+mn-cs"/>
              </a:rPr>
              <a:t>✓</a:t>
            </a:r>
          </a:p>
        </p:txBody>
      </p:sp>
      <p:sp>
        <p:nvSpPr>
          <p:cNvPr id="11" name="TextBox 10"/>
          <p:cNvSpPr txBox="1"/>
          <p:nvPr/>
        </p:nvSpPr>
        <p:spPr>
          <a:xfrm>
            <a:off x="6876288" y="2368296"/>
            <a:ext cx="4544834" cy="492443"/>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230" b="1">
                <a:solidFill>
                  <a:srgbClr val="00796B"/>
                </a:solidFill>
              </a:defRPr>
            </a:pPr>
            <a:r>
              <a:rPr kumimoji="0" sz="1400" b="1" i="0" u="none" strike="noStrike" kern="1200" cap="none" spc="0" normalizeH="0" baseline="0" noProof="0" dirty="0">
                <a:ln>
                  <a:noFill/>
                </a:ln>
                <a:solidFill>
                  <a:srgbClr val="1C3A56"/>
                </a:solidFill>
                <a:effectLst/>
                <a:uLnTx/>
                <a:uFillTx/>
                <a:latin typeface="Aptos"/>
                <a:ea typeface="+mn-ea"/>
                <a:cs typeface="+mn-cs"/>
              </a:rPr>
              <a:t>Patient key validation</a:t>
            </a:r>
          </a:p>
          <a:p>
            <a:pPr marL="0" marR="0" lvl="0" indent="0" algn="l" defTabSz="914400" rtl="0" eaLnBrk="1" fontAlgn="auto" latinLnBrk="0" hangingPunct="1">
              <a:lnSpc>
                <a:spcPct val="100000"/>
              </a:lnSpc>
              <a:spcBef>
                <a:spcPts val="0"/>
              </a:spcBef>
              <a:spcAft>
                <a:spcPts val="0"/>
              </a:spcAft>
              <a:buClrTx/>
              <a:buSzTx/>
              <a:buFontTx/>
              <a:buNone/>
              <a:tabLst/>
              <a:defRPr sz="1070">
                <a:solidFill>
                  <a:srgbClr val="162B3E"/>
                </a:solidFill>
              </a:defRPr>
            </a:pPr>
            <a:r>
              <a:rPr kumimoji="0" sz="1200" b="0" i="0" u="none" strike="noStrike" kern="1200" cap="none" spc="0" normalizeH="0" baseline="0" noProof="0" dirty="0">
                <a:ln>
                  <a:noFill/>
                </a:ln>
                <a:solidFill>
                  <a:srgbClr val="1C3A56"/>
                </a:solidFill>
                <a:effectLst/>
                <a:uLnTx/>
                <a:uFillTx/>
                <a:latin typeface="Aptos"/>
                <a:ea typeface="+mn-ea"/>
                <a:cs typeface="+mn-cs"/>
              </a:rPr>
              <a:t>2,008 unique patients; 0 duplicate IDs in Labs and Demography</a:t>
            </a:r>
            <a:r>
              <a:rPr kumimoji="0" sz="1070" b="0" i="0" u="none" strike="noStrike" kern="1200" cap="none" spc="0" normalizeH="0" baseline="0" noProof="0" dirty="0">
                <a:ln>
                  <a:noFill/>
                </a:ln>
                <a:solidFill>
                  <a:srgbClr val="1C3A56"/>
                </a:solidFill>
                <a:effectLst/>
                <a:uLnTx/>
                <a:uFillTx/>
                <a:latin typeface="Aptos"/>
                <a:ea typeface="+mn-ea"/>
                <a:cs typeface="+mn-cs"/>
              </a:rPr>
              <a:t>.</a:t>
            </a:r>
          </a:p>
        </p:txBody>
      </p:sp>
      <p:sp>
        <p:nvSpPr>
          <p:cNvPr id="12" name="Oval 11"/>
          <p:cNvSpPr/>
          <p:nvPr/>
        </p:nvSpPr>
        <p:spPr>
          <a:xfrm>
            <a:off x="6419088" y="3236976"/>
            <a:ext cx="329184" cy="329184"/>
          </a:xfrm>
          <a:prstGeom prst="ellipse">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300" b="1">
                <a:solidFill>
                  <a:srgbClr val="FFFFFF"/>
                </a:solidFill>
              </a:defRPr>
            </a:pPr>
            <a:r>
              <a:rPr kumimoji="0" sz="1300" b="1" i="0" u="none" strike="noStrike" kern="1200" cap="none" spc="0" normalizeH="0" baseline="0" noProof="0">
                <a:ln>
                  <a:noFill/>
                </a:ln>
                <a:solidFill>
                  <a:srgbClr val="1C3A56"/>
                </a:solidFill>
                <a:effectLst/>
                <a:uLnTx/>
                <a:uFillTx/>
                <a:latin typeface="Aptos"/>
                <a:ea typeface="+mn-ea"/>
                <a:cs typeface="+mn-cs"/>
              </a:rPr>
              <a:t>✓</a:t>
            </a:r>
          </a:p>
        </p:txBody>
      </p:sp>
      <p:sp>
        <p:nvSpPr>
          <p:cNvPr id="13" name="TextBox 12"/>
          <p:cNvSpPr txBox="1"/>
          <p:nvPr/>
        </p:nvSpPr>
        <p:spPr>
          <a:xfrm>
            <a:off x="6876288" y="3209544"/>
            <a:ext cx="4674482" cy="67710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230" b="1">
                <a:solidFill>
                  <a:srgbClr val="00796B"/>
                </a:solidFill>
              </a:defRPr>
            </a:pPr>
            <a:r>
              <a:rPr kumimoji="0" sz="1400" b="1" i="0" u="none" strike="noStrike" kern="1200" cap="none" spc="0" normalizeH="0" baseline="0" noProof="0" dirty="0">
                <a:ln>
                  <a:noFill/>
                </a:ln>
                <a:solidFill>
                  <a:srgbClr val="1C3A56"/>
                </a:solidFill>
                <a:effectLst/>
                <a:uLnTx/>
                <a:uFillTx/>
                <a:latin typeface="Aptos"/>
                <a:ea typeface="+mn-ea"/>
                <a:cs typeface="+mn-cs"/>
              </a:rPr>
              <a:t>Missing-value assessment</a:t>
            </a:r>
          </a:p>
          <a:p>
            <a:pPr marL="0" marR="0" lvl="0" indent="0" algn="l" defTabSz="914400" rtl="0" eaLnBrk="1" fontAlgn="auto" latinLnBrk="0" hangingPunct="1">
              <a:lnSpc>
                <a:spcPct val="100000"/>
              </a:lnSpc>
              <a:spcBef>
                <a:spcPts val="0"/>
              </a:spcBef>
              <a:spcAft>
                <a:spcPts val="0"/>
              </a:spcAft>
              <a:buClrTx/>
              <a:buSzTx/>
              <a:buFontTx/>
              <a:buNone/>
              <a:tabLst/>
              <a:defRPr sz="1070">
                <a:solidFill>
                  <a:srgbClr val="162B3E"/>
                </a:solidFill>
              </a:defRPr>
            </a:pPr>
            <a:r>
              <a:rPr kumimoji="0" sz="1200" b="0" i="0" u="none" strike="noStrike" kern="1200" cap="none" spc="0" normalizeH="0" baseline="0" noProof="0" dirty="0">
                <a:ln>
                  <a:noFill/>
                </a:ln>
                <a:solidFill>
                  <a:srgbClr val="1C3A56"/>
                </a:solidFill>
                <a:effectLst/>
                <a:uLnTx/>
                <a:uFillTx/>
                <a:latin typeface="Aptos"/>
                <a:ea typeface="+mn-ea"/>
                <a:cs typeface="+mn-cs"/>
              </a:rPr>
              <a:t>Clinical missing</a:t>
            </a:r>
            <a:r>
              <a:rPr kumimoji="0" lang="en-US" sz="1200" b="0" i="0" u="none" strike="noStrike" kern="1200" cap="none" spc="0" normalizeH="0" baseline="0" noProof="0" dirty="0">
                <a:ln>
                  <a:noFill/>
                </a:ln>
                <a:solidFill>
                  <a:srgbClr val="1C3A56"/>
                </a:solidFill>
                <a:effectLst/>
                <a:uLnTx/>
                <a:uFillTx/>
                <a:latin typeface="Aptos"/>
                <a:ea typeface="+mn-ea"/>
                <a:cs typeface="+mn-cs"/>
              </a:rPr>
              <a:t> values</a:t>
            </a:r>
            <a:r>
              <a:rPr kumimoji="0" sz="1200" b="0" i="0" u="none" strike="noStrike" kern="1200" cap="none" spc="0" normalizeH="0" baseline="0" noProof="0" dirty="0">
                <a:ln>
                  <a:noFill/>
                </a:ln>
                <a:solidFill>
                  <a:srgbClr val="162B3E"/>
                </a:solidFill>
                <a:effectLst/>
                <a:uLnTx/>
                <a:uFillTx/>
                <a:latin typeface="Aptos"/>
                <a:ea typeface="+mn-ea"/>
                <a:cs typeface="+mn-cs"/>
              </a:rPr>
              <a:t> </a:t>
            </a:r>
            <a:r>
              <a:rPr kumimoji="0" sz="1200" b="0" i="0" u="none" strike="noStrike" kern="1200" cap="none" spc="0" normalizeH="0" baseline="0" noProof="0" dirty="0">
                <a:ln>
                  <a:noFill/>
                </a:ln>
                <a:solidFill>
                  <a:srgbClr val="1C3A56"/>
                </a:solidFill>
                <a:effectLst/>
                <a:uLnTx/>
                <a:uFillTx/>
                <a:latin typeface="Aptos"/>
                <a:ea typeface="+mn-ea"/>
                <a:cs typeface="+mn-cs"/>
              </a:rPr>
              <a:t>identified explicitly rather than silently treated as normal.</a:t>
            </a:r>
          </a:p>
        </p:txBody>
      </p:sp>
      <p:sp>
        <p:nvSpPr>
          <p:cNvPr id="14" name="Oval 13"/>
          <p:cNvSpPr/>
          <p:nvPr/>
        </p:nvSpPr>
        <p:spPr>
          <a:xfrm>
            <a:off x="6419088" y="4078224"/>
            <a:ext cx="329184" cy="329184"/>
          </a:xfrm>
          <a:prstGeom prst="ellipse">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300" b="1">
                <a:solidFill>
                  <a:srgbClr val="FFFFFF"/>
                </a:solidFill>
              </a:defRPr>
            </a:pPr>
            <a:r>
              <a:rPr kumimoji="0" sz="1300" b="1" i="0" u="none" strike="noStrike" kern="1200" cap="none" spc="0" normalizeH="0" baseline="0" noProof="0">
                <a:ln>
                  <a:noFill/>
                </a:ln>
                <a:solidFill>
                  <a:srgbClr val="1C3A56"/>
                </a:solidFill>
                <a:effectLst/>
                <a:uLnTx/>
                <a:uFillTx/>
                <a:latin typeface="Aptos"/>
                <a:ea typeface="+mn-ea"/>
                <a:cs typeface="+mn-cs"/>
              </a:rPr>
              <a:t>✓</a:t>
            </a:r>
          </a:p>
        </p:txBody>
      </p:sp>
      <p:sp>
        <p:nvSpPr>
          <p:cNvPr id="15" name="TextBox 14"/>
          <p:cNvSpPr txBox="1"/>
          <p:nvPr/>
        </p:nvSpPr>
        <p:spPr>
          <a:xfrm>
            <a:off x="6876288" y="4050791"/>
            <a:ext cx="4565904" cy="67710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230" b="1">
                <a:solidFill>
                  <a:srgbClr val="00796B"/>
                </a:solidFill>
              </a:defRPr>
            </a:pPr>
            <a:r>
              <a:rPr kumimoji="0" sz="1400" b="1" i="0" u="none" strike="noStrike" kern="1200" cap="none" spc="0" normalizeH="0" baseline="0" noProof="0" dirty="0">
                <a:ln>
                  <a:noFill/>
                </a:ln>
                <a:solidFill>
                  <a:srgbClr val="1C3A56"/>
                </a:solidFill>
                <a:effectLst/>
                <a:uLnTx/>
                <a:uFillTx/>
                <a:latin typeface="Aptos"/>
                <a:ea typeface="+mn-ea"/>
                <a:cs typeface="+mn-cs"/>
              </a:rPr>
              <a:t>Prescription normalization</a:t>
            </a:r>
          </a:p>
          <a:p>
            <a:pPr marL="0" marR="0" lvl="0" indent="0" algn="l" defTabSz="914400" rtl="0" eaLnBrk="1" fontAlgn="auto" latinLnBrk="0" hangingPunct="1">
              <a:lnSpc>
                <a:spcPct val="100000"/>
              </a:lnSpc>
              <a:spcBef>
                <a:spcPts val="0"/>
              </a:spcBef>
              <a:spcAft>
                <a:spcPts val="0"/>
              </a:spcAft>
              <a:buClrTx/>
              <a:buSzTx/>
              <a:buFontTx/>
              <a:buNone/>
              <a:tabLst/>
              <a:defRPr sz="1070">
                <a:solidFill>
                  <a:srgbClr val="162B3E"/>
                </a:solidFill>
              </a:defRPr>
            </a:pPr>
            <a:r>
              <a:rPr kumimoji="0" sz="1200" b="0" i="0" u="none" strike="noStrike" kern="1200" cap="none" spc="0" normalizeH="0" baseline="0" noProof="0" dirty="0">
                <a:ln>
                  <a:noFill/>
                </a:ln>
                <a:solidFill>
                  <a:srgbClr val="1C3A56"/>
                </a:solidFill>
                <a:effectLst/>
                <a:uLnTx/>
                <a:uFillTx/>
                <a:latin typeface="Aptos"/>
                <a:ea typeface="+mn-ea"/>
                <a:cs typeface="+mn-cs"/>
              </a:rPr>
              <a:t>15,362 medication records recognized as patient–drug</a:t>
            </a:r>
            <a:r>
              <a:rPr kumimoji="0" lang="en-US" sz="1200" b="0" i="0" u="none" strike="noStrike" kern="1200" cap="none" spc="0" normalizeH="0" baseline="0" noProof="0" dirty="0">
                <a:ln>
                  <a:noFill/>
                </a:ln>
                <a:solidFill>
                  <a:srgbClr val="162B3E"/>
                </a:solidFill>
                <a:effectLst/>
                <a:uLnTx/>
                <a:uFillTx/>
                <a:latin typeface="Aptos"/>
                <a:ea typeface="+mn-ea"/>
                <a:cs typeface="+mn-cs"/>
              </a:rPr>
              <a:t> </a:t>
            </a:r>
            <a:r>
              <a:rPr kumimoji="0" sz="1200" b="0" i="0" u="none" strike="noStrike" kern="1200" cap="none" spc="0" normalizeH="0" baseline="0" noProof="0" dirty="0">
                <a:ln>
                  <a:noFill/>
                </a:ln>
                <a:solidFill>
                  <a:srgbClr val="1C3A56"/>
                </a:solidFill>
                <a:effectLst/>
                <a:uLnTx/>
                <a:uFillTx/>
                <a:latin typeface="Aptos"/>
                <a:ea typeface="+mn-ea"/>
                <a:cs typeface="+mn-cs"/>
              </a:rPr>
              <a:t> associations before merging.</a:t>
            </a:r>
          </a:p>
        </p:txBody>
      </p:sp>
      <p:sp>
        <p:nvSpPr>
          <p:cNvPr id="16" name="Oval 15"/>
          <p:cNvSpPr/>
          <p:nvPr/>
        </p:nvSpPr>
        <p:spPr>
          <a:xfrm>
            <a:off x="6419088" y="4919472"/>
            <a:ext cx="329184" cy="329184"/>
          </a:xfrm>
          <a:prstGeom prst="ellipse">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300" b="1">
                <a:solidFill>
                  <a:srgbClr val="FFFFFF"/>
                </a:solidFill>
              </a:defRPr>
            </a:pPr>
            <a:r>
              <a:rPr kumimoji="0" sz="1300" b="1" i="0" u="none" strike="noStrike" kern="1200" cap="none" spc="0" normalizeH="0" baseline="0" noProof="0">
                <a:ln>
                  <a:noFill/>
                </a:ln>
                <a:solidFill>
                  <a:srgbClr val="1C3A56"/>
                </a:solidFill>
                <a:effectLst/>
                <a:uLnTx/>
                <a:uFillTx/>
                <a:latin typeface="Aptos"/>
                <a:ea typeface="+mn-ea"/>
                <a:cs typeface="+mn-cs"/>
              </a:rPr>
              <a:t>✓</a:t>
            </a:r>
          </a:p>
        </p:txBody>
      </p:sp>
      <p:sp>
        <p:nvSpPr>
          <p:cNvPr id="17" name="TextBox 16"/>
          <p:cNvSpPr txBox="1"/>
          <p:nvPr/>
        </p:nvSpPr>
        <p:spPr>
          <a:xfrm>
            <a:off x="6876288" y="4892040"/>
            <a:ext cx="4674482" cy="67710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230" b="1">
                <a:solidFill>
                  <a:srgbClr val="00796B"/>
                </a:solidFill>
              </a:defRPr>
            </a:pPr>
            <a:r>
              <a:rPr kumimoji="0" sz="1400" b="1" i="0" u="none" strike="noStrike" kern="1200" cap="none" spc="0" normalizeH="0" baseline="0" noProof="0" dirty="0">
                <a:ln>
                  <a:noFill/>
                </a:ln>
                <a:solidFill>
                  <a:srgbClr val="1C3A56"/>
                </a:solidFill>
                <a:effectLst/>
                <a:uLnTx/>
                <a:uFillTx/>
                <a:latin typeface="Aptos"/>
                <a:ea typeface="+mn-ea"/>
                <a:cs typeface="+mn-cs"/>
              </a:rPr>
              <a:t>Merge integrity</a:t>
            </a:r>
          </a:p>
          <a:p>
            <a:pPr marL="0" marR="0" lvl="0" indent="0" algn="l" defTabSz="914400" rtl="0" eaLnBrk="1" fontAlgn="auto" latinLnBrk="0" hangingPunct="1">
              <a:lnSpc>
                <a:spcPct val="100000"/>
              </a:lnSpc>
              <a:spcBef>
                <a:spcPts val="0"/>
              </a:spcBef>
              <a:spcAft>
                <a:spcPts val="0"/>
              </a:spcAft>
              <a:buClrTx/>
              <a:buSzTx/>
              <a:buFontTx/>
              <a:buNone/>
              <a:tabLst/>
              <a:defRPr sz="1070">
                <a:solidFill>
                  <a:srgbClr val="162B3E"/>
                </a:solidFill>
              </a:defRPr>
            </a:pPr>
            <a:r>
              <a:rPr kumimoji="0" sz="1200" b="0" i="0" u="none" strike="noStrike" kern="1200" cap="none" spc="0" normalizeH="0" baseline="0" noProof="0" dirty="0">
                <a:ln>
                  <a:noFill/>
                </a:ln>
                <a:solidFill>
                  <a:srgbClr val="1C3A56"/>
                </a:solidFill>
                <a:effectLst/>
                <a:uLnTx/>
                <a:uFillTx/>
                <a:latin typeface="Aptos"/>
                <a:ea typeface="+mn-ea"/>
                <a:cs typeface="+mn-cs"/>
              </a:rPr>
              <a:t>Patient-level consolidation produced 2,008 unique patients × 116 analytical features.</a:t>
            </a:r>
          </a:p>
        </p:txBody>
      </p:sp>
      <p:sp>
        <p:nvSpPr>
          <p:cNvPr id="18" name="Rounded Rectangle 17"/>
          <p:cNvSpPr/>
          <p:nvPr/>
        </p:nvSpPr>
        <p:spPr>
          <a:xfrm>
            <a:off x="480060" y="6197727"/>
            <a:ext cx="11155680" cy="277558"/>
          </a:xfrm>
          <a:prstGeom prst="round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230" b="1">
                <a:solidFill>
                  <a:srgbClr val="FFFFFF"/>
                </a:solidFill>
                <a:latin typeface="Aptos"/>
              </a:defRPr>
            </a:pPr>
            <a:r>
              <a:rPr kumimoji="0" sz="1230" b="1" i="0" u="none" strike="noStrike" kern="1200" cap="none" spc="0" normalizeH="0" baseline="0" noProof="0" dirty="0">
                <a:ln>
                  <a:noFill/>
                </a:ln>
                <a:solidFill>
                  <a:srgbClr val="1C3A56"/>
                </a:solidFill>
                <a:effectLst/>
                <a:uLnTx/>
                <a:uFillTx/>
                <a:latin typeface="Aptos"/>
                <a:ea typeface="+mn-ea"/>
                <a:cs typeface="+mn-cs"/>
              </a:rPr>
              <a:t>Outcome: a validated, patient-level analytical foundation ready for descriptive, prescriptive and predictive analysis.</a:t>
            </a:r>
          </a:p>
        </p:txBody>
      </p:sp>
      <p:sp>
        <p:nvSpPr>
          <p:cNvPr id="23" name="Heart 22"/>
          <p:cNvSpPr/>
          <p:nvPr/>
        </p:nvSpPr>
        <p:spPr>
          <a:xfrm>
            <a:off x="11475720" y="256032"/>
            <a:ext cx="384048" cy="347472"/>
          </a:xfrm>
          <a:prstGeom prst="hear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a:off x="11539728" y="448056"/>
            <a:ext cx="64008" cy="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603736" y="374904"/>
            <a:ext cx="36576" cy="73152"/>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640312" y="374904"/>
            <a:ext cx="45720" cy="13716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1686032" y="429768"/>
            <a:ext cx="45720" cy="82296"/>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731752" y="429768"/>
            <a:ext cx="64008" cy="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0" y="0"/>
            <a:ext cx="12192000" cy="109728"/>
          </a:xfrm>
          <a:prstGeom prst="rect">
            <a:avLst/>
          </a:prstGeom>
          <a:solidFill>
            <a:srgbClr val="0A3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Hexagon 30"/>
          <p:cNvSpPr/>
          <p:nvPr/>
        </p:nvSpPr>
        <p:spPr>
          <a:xfrm>
            <a:off x="10913364" y="137160"/>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Hexagon 31"/>
          <p:cNvSpPr/>
          <p:nvPr/>
        </p:nvSpPr>
        <p:spPr>
          <a:xfrm>
            <a:off x="11169662" y="5882259"/>
            <a:ext cx="502920" cy="466344"/>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Hexagon 32"/>
          <p:cNvSpPr/>
          <p:nvPr/>
        </p:nvSpPr>
        <p:spPr>
          <a:xfrm>
            <a:off x="11384280" y="1266443"/>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4" name="Rectangle 13"/>
          <p:cNvSpPr/>
          <p:nvPr/>
        </p:nvSpPr>
        <p:spPr>
          <a:xfrm>
            <a:off x="11795760" y="0"/>
            <a:ext cx="393192" cy="6858000"/>
          </a:xfrm>
          <a:prstGeom prst="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0"/>
            <a:ext cx="164592" cy="6858000"/>
          </a:xfrm>
          <a:prstGeom prst="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02920" y="256032"/>
            <a:ext cx="11155680" cy="50292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162B3E"/>
                </a:solidFill>
                <a:latin typeface="Aptos"/>
              </a:defRPr>
            </a:pPr>
            <a:r>
              <a:rPr kumimoji="0" sz="2400" b="1" i="0" u="none" strike="noStrike" kern="1200" cap="none" spc="0" normalizeH="0" baseline="0" noProof="0">
                <a:ln>
                  <a:noFill/>
                </a:ln>
                <a:solidFill>
                  <a:srgbClr val="0A335F"/>
                </a:solidFill>
                <a:effectLst/>
                <a:uLnTx/>
                <a:uFillTx/>
                <a:latin typeface="Aptos"/>
                <a:ea typeface="+mn-ea"/>
                <a:cs typeface="+mn-cs"/>
              </a:rPr>
              <a:t>Descriptive Analysis — Understanding Heart-Failure Severity</a:t>
            </a:r>
          </a:p>
        </p:txBody>
      </p:sp>
      <p:sp>
        <p:nvSpPr>
          <p:cNvPr id="3" name="Rounded Rectangle 2"/>
          <p:cNvSpPr/>
          <p:nvPr/>
        </p:nvSpPr>
        <p:spPr>
          <a:xfrm>
            <a:off x="502920" y="841248"/>
            <a:ext cx="11155680" cy="713232"/>
          </a:xfrm>
          <a:prstGeom prst="round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310" b="1">
                <a:solidFill>
                  <a:srgbClr val="00796B"/>
                </a:solidFill>
                <a:latin typeface="Aptos"/>
              </a:defRPr>
            </a:pPr>
            <a:r>
              <a:rPr kumimoji="0" sz="1310" b="1" i="0" u="none" strike="noStrike" kern="1200" cap="none" spc="0" normalizeH="0" baseline="0" noProof="0" dirty="0">
                <a:ln>
                  <a:noFill/>
                </a:ln>
                <a:solidFill>
                  <a:srgbClr val="0A8BCA"/>
                </a:solidFill>
                <a:effectLst/>
                <a:uLnTx/>
                <a:uFillTx/>
                <a:latin typeface="Aptos"/>
                <a:ea typeface="+mn-ea"/>
                <a:cs typeface="+mn-cs"/>
              </a:rPr>
              <a:t>OBJECTIVE  •  Describe how functional severity, cardiac biomarkers and ventricular function vary across hospitalized heart-failure patients.</a:t>
            </a:r>
          </a:p>
        </p:txBody>
      </p:sp>
      <p:sp>
        <p:nvSpPr>
          <p:cNvPr id="4" name="Rounded Rectangle 3"/>
          <p:cNvSpPr/>
          <p:nvPr/>
        </p:nvSpPr>
        <p:spPr>
          <a:xfrm>
            <a:off x="502920" y="1783080"/>
            <a:ext cx="5468112" cy="4343400"/>
          </a:xfrm>
          <a:prstGeom prst="roundRect">
            <a:avLst>
              <a:gd name="adj" fmla="val 3948"/>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a:ea typeface="+mn-ea"/>
              <a:cs typeface="+mn-cs"/>
            </a:endParaRPr>
          </a:p>
        </p:txBody>
      </p:sp>
      <p:sp>
        <p:nvSpPr>
          <p:cNvPr id="5" name="TextBox 4"/>
          <p:cNvSpPr txBox="1"/>
          <p:nvPr/>
        </p:nvSpPr>
        <p:spPr>
          <a:xfrm>
            <a:off x="749808" y="1938528"/>
            <a:ext cx="4937760" cy="34747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520" b="1">
                <a:solidFill>
                  <a:srgbClr val="162B3E"/>
                </a:solidFill>
                <a:latin typeface="Aptos"/>
              </a:defRPr>
            </a:pPr>
            <a:r>
              <a:rPr kumimoji="0" sz="1520" b="1" i="0" u="none" strike="noStrike" kern="1200" cap="none" spc="0" normalizeH="0" baseline="0" noProof="0">
                <a:ln>
                  <a:noFill/>
                </a:ln>
                <a:solidFill>
                  <a:srgbClr val="1C3A56"/>
                </a:solidFill>
                <a:effectLst/>
                <a:uLnTx/>
                <a:uFillTx/>
                <a:latin typeface="Aptos"/>
                <a:ea typeface="+mn-ea"/>
                <a:cs typeface="+mn-cs"/>
              </a:rPr>
              <a:t>1  NYHA severity ↔ cardiac biomarkers</a:t>
            </a:r>
          </a:p>
        </p:txBody>
      </p:sp>
      <p:pic>
        <p:nvPicPr>
          <p:cNvPr id="6" name="Picture 5" descr="image.png"/>
          <p:cNvPicPr>
            <a:picLocks noChangeAspect="1"/>
          </p:cNvPicPr>
          <p:nvPr/>
        </p:nvPicPr>
        <p:blipFill>
          <a:blip r:embed="rId3"/>
          <a:stretch>
            <a:fillRect/>
          </a:stretch>
        </p:blipFill>
        <p:spPr>
          <a:xfrm>
            <a:off x="749808" y="2377440"/>
            <a:ext cx="4937760" cy="2441448"/>
          </a:xfrm>
          <a:prstGeom prst="rect">
            <a:avLst/>
          </a:prstGeom>
        </p:spPr>
      </p:pic>
      <p:sp>
        <p:nvSpPr>
          <p:cNvPr id="7" name="Rounded Rectangle 6"/>
          <p:cNvSpPr/>
          <p:nvPr/>
        </p:nvSpPr>
        <p:spPr>
          <a:xfrm>
            <a:off x="749808" y="4910328"/>
            <a:ext cx="4937760" cy="1033272"/>
          </a:xfrm>
          <a:prstGeom prst="roundRect">
            <a:avLst>
              <a:gd name="adj" fmla="val 11136"/>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lIns="128016" rIns="10972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200" b="1">
                <a:solidFill>
                  <a:srgbClr val="00796B"/>
                </a:solidFill>
              </a:defRPr>
            </a:pPr>
            <a:r>
              <a:rPr kumimoji="0" sz="1200" b="1" i="0" u="none" strike="noStrike" kern="1200" cap="none" spc="0" normalizeH="0" baseline="0" noProof="0" dirty="0">
                <a:ln>
                  <a:noFill/>
                </a:ln>
                <a:solidFill>
                  <a:srgbClr val="0A8BCA"/>
                </a:solidFill>
                <a:effectLst/>
                <a:uLnTx/>
                <a:uFillTx/>
                <a:latin typeface="Aptos"/>
                <a:ea typeface="+mn-ea"/>
                <a:cs typeface="+mn-cs"/>
              </a:rPr>
              <a:t>KEY HEART-FAILURE INSIGHT</a:t>
            </a:r>
          </a:p>
          <a:p>
            <a:pPr marL="0" marR="0" lvl="0" indent="0" algn="l" defTabSz="914400" rtl="0" eaLnBrk="1" fontAlgn="auto" latinLnBrk="0" hangingPunct="1">
              <a:lnSpc>
                <a:spcPct val="100000"/>
              </a:lnSpc>
              <a:spcBef>
                <a:spcPts val="0"/>
              </a:spcBef>
              <a:spcAft>
                <a:spcPts val="0"/>
              </a:spcAft>
              <a:buClrTx/>
              <a:buSzTx/>
              <a:buFontTx/>
              <a:buNone/>
              <a:tabLst/>
              <a:defRPr sz="1060">
                <a:solidFill>
                  <a:srgbClr val="162B3E"/>
                </a:solidFill>
              </a:defRPr>
            </a:pPr>
            <a:r>
              <a:rPr kumimoji="0" sz="1200" b="0" i="0" u="none" strike="noStrike" kern="1200" cap="none" spc="0" normalizeH="0" baseline="0" noProof="0" dirty="0">
                <a:ln>
                  <a:noFill/>
                </a:ln>
                <a:solidFill>
                  <a:srgbClr val="1C3A56"/>
                </a:solidFill>
                <a:effectLst/>
                <a:uLnTx/>
                <a:uFillTx/>
                <a:latin typeface="Aptos"/>
                <a:ea typeface="+mn-ea"/>
                <a:cs typeface="+mn-cs"/>
              </a:rPr>
              <a:t>As NYHA class increased from 2 → 4, median BNP rose 113% and median Troponin rose 85%, showing a progressively heavier cardiac biomarker burden with functional severity.</a:t>
            </a:r>
          </a:p>
        </p:txBody>
      </p:sp>
      <p:sp>
        <p:nvSpPr>
          <p:cNvPr id="8" name="Rounded Rectangle 7"/>
          <p:cNvSpPr/>
          <p:nvPr/>
        </p:nvSpPr>
        <p:spPr>
          <a:xfrm>
            <a:off x="6144768" y="1783080"/>
            <a:ext cx="5468112" cy="4343400"/>
          </a:xfrm>
          <a:prstGeom prst="roundRect">
            <a:avLst>
              <a:gd name="adj" fmla="val 3728"/>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a:ea typeface="+mn-ea"/>
              <a:cs typeface="+mn-cs"/>
            </a:endParaRPr>
          </a:p>
        </p:txBody>
      </p:sp>
      <p:sp>
        <p:nvSpPr>
          <p:cNvPr id="9" name="TextBox 8"/>
          <p:cNvSpPr txBox="1"/>
          <p:nvPr/>
        </p:nvSpPr>
        <p:spPr>
          <a:xfrm>
            <a:off x="6391656" y="1938528"/>
            <a:ext cx="4937760" cy="34747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520" b="1">
                <a:solidFill>
                  <a:srgbClr val="162B3E"/>
                </a:solidFill>
                <a:latin typeface="Aptos"/>
              </a:defRPr>
            </a:pPr>
            <a:r>
              <a:rPr kumimoji="0" sz="1520" b="1" i="0" u="none" strike="noStrike" kern="1200" cap="none" spc="0" normalizeH="0" baseline="0" noProof="0">
                <a:ln>
                  <a:noFill/>
                </a:ln>
                <a:solidFill>
                  <a:srgbClr val="1C3A56"/>
                </a:solidFill>
                <a:effectLst/>
                <a:uLnTx/>
                <a:uFillTx/>
                <a:latin typeface="Aptos"/>
                <a:ea typeface="+mn-ea"/>
                <a:cs typeface="+mn-cs"/>
              </a:rPr>
              <a:t>2  NYHA → BNP → LVEF patient pathways</a:t>
            </a:r>
          </a:p>
        </p:txBody>
      </p:sp>
      <p:pic>
        <p:nvPicPr>
          <p:cNvPr id="10" name="Picture 9" descr="desc_13_1.png"/>
          <p:cNvPicPr>
            <a:picLocks noChangeAspect="1"/>
          </p:cNvPicPr>
          <p:nvPr/>
        </p:nvPicPr>
        <p:blipFill>
          <a:blip r:embed="rId4"/>
          <a:stretch>
            <a:fillRect/>
          </a:stretch>
        </p:blipFill>
        <p:spPr>
          <a:xfrm>
            <a:off x="6391656" y="2377440"/>
            <a:ext cx="4937760" cy="2441448"/>
          </a:xfrm>
          <a:prstGeom prst="rect">
            <a:avLst/>
          </a:prstGeom>
        </p:spPr>
      </p:pic>
      <p:sp>
        <p:nvSpPr>
          <p:cNvPr id="11" name="Rounded Rectangle 10"/>
          <p:cNvSpPr/>
          <p:nvPr/>
        </p:nvSpPr>
        <p:spPr>
          <a:xfrm>
            <a:off x="6391656" y="4882896"/>
            <a:ext cx="4937760" cy="1060704"/>
          </a:xfrm>
          <a:prstGeom prst="roundRect">
            <a:avLst>
              <a:gd name="adj" fmla="val 11279"/>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lIns="128016" rIns="10972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200" b="1">
                <a:solidFill>
                  <a:srgbClr val="00796B"/>
                </a:solidFill>
              </a:defRPr>
            </a:pPr>
            <a:r>
              <a:rPr kumimoji="0" sz="1200" b="1" i="0" u="none" strike="noStrike" kern="1200" cap="none" spc="0" normalizeH="0" baseline="0" noProof="0" dirty="0">
                <a:ln>
                  <a:noFill/>
                </a:ln>
                <a:solidFill>
                  <a:srgbClr val="0A8BCA"/>
                </a:solidFill>
                <a:effectLst/>
                <a:uLnTx/>
                <a:uFillTx/>
                <a:latin typeface="Aptos"/>
                <a:ea typeface="+mn-ea"/>
                <a:cs typeface="+mn-cs"/>
              </a:rPr>
              <a:t>KEY HEART-FAILURE INSIGHT</a:t>
            </a:r>
          </a:p>
          <a:p>
            <a:pPr marL="0" marR="0" lvl="0" indent="0" algn="l" defTabSz="914400" rtl="0" eaLnBrk="1" fontAlgn="auto" latinLnBrk="0" hangingPunct="1">
              <a:lnSpc>
                <a:spcPct val="100000"/>
              </a:lnSpc>
              <a:spcBef>
                <a:spcPts val="0"/>
              </a:spcBef>
              <a:spcAft>
                <a:spcPts val="0"/>
              </a:spcAft>
              <a:buClrTx/>
              <a:buSzTx/>
              <a:buFontTx/>
              <a:buNone/>
              <a:tabLst/>
              <a:defRPr sz="1060">
                <a:solidFill>
                  <a:srgbClr val="162B3E"/>
                </a:solidFill>
              </a:defRPr>
            </a:pPr>
            <a:r>
              <a:rPr kumimoji="0" sz="1200" b="0" i="0" u="none" strike="noStrike" kern="1200" cap="none" spc="0" normalizeH="0" baseline="0" noProof="0" dirty="0">
                <a:ln>
                  <a:noFill/>
                </a:ln>
                <a:solidFill>
                  <a:srgbClr val="1C3A56"/>
                </a:solidFill>
                <a:effectLst/>
                <a:uLnTx/>
                <a:uFillTx/>
                <a:latin typeface="Aptos"/>
                <a:ea typeface="+mn-ea"/>
                <a:cs typeface="+mn-cs"/>
              </a:rPr>
              <a:t>Patients within the same NYHA class followed different BNP and LVEF pathways, showing that heart-failure severity is heterogeneous and should be interpreted using multiple cardiac indicators together.</a:t>
            </a:r>
          </a:p>
        </p:txBody>
      </p:sp>
      <p:sp>
        <p:nvSpPr>
          <p:cNvPr id="12" name="Rounded Rectangle 11"/>
          <p:cNvSpPr/>
          <p:nvPr/>
        </p:nvSpPr>
        <p:spPr>
          <a:xfrm>
            <a:off x="569214" y="6186297"/>
            <a:ext cx="10881360" cy="282702"/>
          </a:xfrm>
          <a:prstGeom prst="round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210" b="1">
                <a:solidFill>
                  <a:srgbClr val="FFFFFF"/>
                </a:solidFill>
              </a:defRPr>
            </a:pPr>
            <a:r>
              <a:rPr kumimoji="0" sz="1210" b="1" i="0" u="none" strike="noStrike" kern="1200" cap="none" spc="0" normalizeH="0" baseline="0" noProof="0" dirty="0">
                <a:ln>
                  <a:noFill/>
                </a:ln>
                <a:solidFill>
                  <a:srgbClr val="1C3A56"/>
                </a:solidFill>
                <a:effectLst/>
                <a:uLnTx/>
                <a:uFillTx/>
                <a:latin typeface="Aptos"/>
                <a:ea typeface="+mn-ea"/>
                <a:cs typeface="+mn-cs"/>
              </a:rPr>
              <a:t>Descriptive analysis revealed how symptoms, biomarkers and ventricular function combine to characterize heart-failure severity.</a:t>
            </a:r>
          </a:p>
        </p:txBody>
      </p:sp>
      <p:sp>
        <p:nvSpPr>
          <p:cNvPr id="15" name="Heart 14"/>
          <p:cNvSpPr/>
          <p:nvPr/>
        </p:nvSpPr>
        <p:spPr>
          <a:xfrm>
            <a:off x="11475720" y="256032"/>
            <a:ext cx="384048" cy="347472"/>
          </a:xfrm>
          <a:prstGeom prst="hear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a:off x="11539728" y="448056"/>
            <a:ext cx="64008" cy="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1603736" y="374904"/>
            <a:ext cx="36576" cy="73152"/>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640312" y="374904"/>
            <a:ext cx="45720" cy="13716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1686032" y="429768"/>
            <a:ext cx="45720" cy="82296"/>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731752" y="429768"/>
            <a:ext cx="64008" cy="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0" y="0"/>
            <a:ext cx="12192000" cy="109728"/>
          </a:xfrm>
          <a:prstGeom prst="rect">
            <a:avLst/>
          </a:prstGeom>
          <a:solidFill>
            <a:srgbClr val="0A3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Hexagon 22"/>
          <p:cNvSpPr/>
          <p:nvPr/>
        </p:nvSpPr>
        <p:spPr>
          <a:xfrm>
            <a:off x="10501884" y="256032"/>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Hexagon 23"/>
          <p:cNvSpPr/>
          <p:nvPr/>
        </p:nvSpPr>
        <p:spPr>
          <a:xfrm>
            <a:off x="10970514" y="534162"/>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Hexagon 24"/>
          <p:cNvSpPr/>
          <p:nvPr/>
        </p:nvSpPr>
        <p:spPr>
          <a:xfrm>
            <a:off x="11288268" y="1046988"/>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4" name="Rectangle 13"/>
          <p:cNvSpPr/>
          <p:nvPr/>
        </p:nvSpPr>
        <p:spPr>
          <a:xfrm>
            <a:off x="11795760" y="0"/>
            <a:ext cx="393192" cy="6858000"/>
          </a:xfrm>
          <a:prstGeom prst="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0"/>
            <a:ext cx="164592" cy="6858000"/>
          </a:xfrm>
          <a:prstGeom prst="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02920" y="256032"/>
            <a:ext cx="11155680" cy="50292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162B3E"/>
                </a:solidFill>
                <a:latin typeface="Aptos Display"/>
              </a:defRPr>
            </a:pPr>
            <a:r>
              <a:rPr kumimoji="0" sz="2400" b="1" i="0" u="none" strike="noStrike" kern="1200" cap="none" spc="0" normalizeH="0" baseline="0" noProof="0" dirty="0">
                <a:ln>
                  <a:noFill/>
                </a:ln>
                <a:solidFill>
                  <a:srgbClr val="0A335F"/>
                </a:solidFill>
                <a:effectLst/>
                <a:uLnTx/>
                <a:uFillTx/>
                <a:latin typeface="Aptos"/>
                <a:ea typeface="+mn-ea"/>
                <a:cs typeface="+mn-cs"/>
              </a:rPr>
              <a:t>Prescriptive Analysis — Turning Evidence into Action</a:t>
            </a:r>
          </a:p>
        </p:txBody>
      </p:sp>
      <p:sp>
        <p:nvSpPr>
          <p:cNvPr id="3" name="Rounded Rectangle 2"/>
          <p:cNvSpPr/>
          <p:nvPr/>
        </p:nvSpPr>
        <p:spPr>
          <a:xfrm>
            <a:off x="502920" y="841248"/>
            <a:ext cx="11155680" cy="713232"/>
          </a:xfrm>
          <a:prstGeom prst="round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320" b="1">
                <a:solidFill>
                  <a:srgbClr val="00796B"/>
                </a:solidFill>
                <a:latin typeface="Aptos"/>
              </a:defRPr>
            </a:pPr>
            <a:r>
              <a:rPr kumimoji="0" sz="1320" b="1" i="0" u="none" strike="noStrike" kern="1200" cap="none" spc="0" normalizeH="0" baseline="0" noProof="0">
                <a:ln>
                  <a:noFill/>
                </a:ln>
                <a:solidFill>
                  <a:srgbClr val="0A8BCA"/>
                </a:solidFill>
                <a:effectLst/>
                <a:uLnTx/>
                <a:uFillTx/>
                <a:latin typeface="Aptos"/>
                <a:ea typeface="+mn-ea"/>
                <a:cs typeface="+mn-cs"/>
              </a:rPr>
              <a:t>OBJECTIVE  •  Move beyond “what happened?” to identify where targeted clinical monitoring, follow-up and resource allocation could be prioritized.</a:t>
            </a:r>
          </a:p>
        </p:txBody>
      </p:sp>
      <p:sp>
        <p:nvSpPr>
          <p:cNvPr id="4" name="Rounded Rectangle 3"/>
          <p:cNvSpPr/>
          <p:nvPr/>
        </p:nvSpPr>
        <p:spPr>
          <a:xfrm>
            <a:off x="502920" y="1783080"/>
            <a:ext cx="5468112" cy="4343400"/>
          </a:xfrm>
          <a:prstGeom prst="roundRect">
            <a:avLst>
              <a:gd name="adj" fmla="val 3509"/>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a:ea typeface="+mn-ea"/>
              <a:cs typeface="+mn-cs"/>
            </a:endParaRPr>
          </a:p>
        </p:txBody>
      </p:sp>
      <p:sp>
        <p:nvSpPr>
          <p:cNvPr id="5" name="Rounded Rectangle 4"/>
          <p:cNvSpPr/>
          <p:nvPr/>
        </p:nvSpPr>
        <p:spPr>
          <a:xfrm>
            <a:off x="6144768" y="1783080"/>
            <a:ext cx="5468112" cy="4343400"/>
          </a:xfrm>
          <a:prstGeom prst="roundRect">
            <a:avLst>
              <a:gd name="adj" fmla="val 1974"/>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a:ea typeface="+mn-ea"/>
              <a:cs typeface="+mn-cs"/>
            </a:endParaRPr>
          </a:p>
        </p:txBody>
      </p:sp>
      <p:sp>
        <p:nvSpPr>
          <p:cNvPr id="6" name="TextBox 5"/>
          <p:cNvSpPr txBox="1"/>
          <p:nvPr/>
        </p:nvSpPr>
        <p:spPr>
          <a:xfrm>
            <a:off x="749808" y="1938528"/>
            <a:ext cx="4937760" cy="34747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530" b="1">
                <a:solidFill>
                  <a:srgbClr val="162B3E"/>
                </a:solidFill>
                <a:latin typeface="Aptos"/>
              </a:defRPr>
            </a:pPr>
            <a:r>
              <a:rPr kumimoji="0" sz="1530" b="1" i="0" u="none" strike="noStrike" kern="1200" cap="none" spc="0" normalizeH="0" baseline="0" noProof="0">
                <a:ln>
                  <a:noFill/>
                </a:ln>
                <a:solidFill>
                  <a:srgbClr val="1C3A56"/>
                </a:solidFill>
                <a:effectLst/>
                <a:uLnTx/>
                <a:uFillTx/>
                <a:latin typeface="Aptos"/>
                <a:ea typeface="+mn-ea"/>
                <a:cs typeface="+mn-cs"/>
              </a:rPr>
              <a:t>1  Severity-based escalation</a:t>
            </a:r>
          </a:p>
        </p:txBody>
      </p:sp>
      <p:sp>
        <p:nvSpPr>
          <p:cNvPr id="7" name="TextBox 6"/>
          <p:cNvSpPr txBox="1"/>
          <p:nvPr/>
        </p:nvSpPr>
        <p:spPr>
          <a:xfrm>
            <a:off x="6391656" y="1938528"/>
            <a:ext cx="4937760" cy="34747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530" b="1">
                <a:solidFill>
                  <a:srgbClr val="162B3E"/>
                </a:solidFill>
                <a:latin typeface="Aptos"/>
              </a:defRPr>
            </a:pPr>
            <a:r>
              <a:rPr kumimoji="0" sz="1530" b="1" i="0" u="none" strike="noStrike" kern="1200" cap="none" spc="0" normalizeH="0" baseline="0" noProof="0">
                <a:ln>
                  <a:noFill/>
                </a:ln>
                <a:solidFill>
                  <a:srgbClr val="1C3A56"/>
                </a:solidFill>
                <a:effectLst/>
                <a:uLnTx/>
                <a:uFillTx/>
                <a:latin typeface="Aptos"/>
                <a:ea typeface="+mn-ea"/>
                <a:cs typeface="+mn-cs"/>
              </a:rPr>
              <a:t>2  Risk-based resource allocation</a:t>
            </a:r>
          </a:p>
        </p:txBody>
      </p:sp>
      <p:pic>
        <p:nvPicPr>
          <p:cNvPr id="8" name="Picture 7" descr="prescriptive_killip.png"/>
          <p:cNvPicPr>
            <a:picLocks noChangeAspect="1"/>
          </p:cNvPicPr>
          <p:nvPr/>
        </p:nvPicPr>
        <p:blipFill>
          <a:blip r:embed="rId3"/>
          <a:stretch>
            <a:fillRect/>
          </a:stretch>
        </p:blipFill>
        <p:spPr>
          <a:xfrm>
            <a:off x="749808" y="2377440"/>
            <a:ext cx="4937760" cy="2441448"/>
          </a:xfrm>
          <a:prstGeom prst="rect">
            <a:avLst/>
          </a:prstGeom>
        </p:spPr>
      </p:pic>
      <p:pic>
        <p:nvPicPr>
          <p:cNvPr id="9" name="Picture 8" descr="prescriptive_ward.png"/>
          <p:cNvPicPr>
            <a:picLocks noChangeAspect="1"/>
          </p:cNvPicPr>
          <p:nvPr/>
        </p:nvPicPr>
        <p:blipFill>
          <a:blip r:embed="rId4"/>
          <a:stretch>
            <a:fillRect/>
          </a:stretch>
        </p:blipFill>
        <p:spPr>
          <a:xfrm>
            <a:off x="6391656" y="2377440"/>
            <a:ext cx="4937760" cy="2441448"/>
          </a:xfrm>
          <a:prstGeom prst="rect">
            <a:avLst/>
          </a:prstGeom>
        </p:spPr>
      </p:pic>
      <p:sp>
        <p:nvSpPr>
          <p:cNvPr id="10" name="Rounded Rectangle 9"/>
          <p:cNvSpPr/>
          <p:nvPr/>
        </p:nvSpPr>
        <p:spPr>
          <a:xfrm>
            <a:off x="749808" y="4910328"/>
            <a:ext cx="4937760" cy="1033272"/>
          </a:xfrm>
          <a:prstGeom prst="roundRect">
            <a:avLst>
              <a:gd name="adj" fmla="val 9588"/>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lIns="128016" rIns="10972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200" b="1">
                <a:solidFill>
                  <a:srgbClr val="00796B"/>
                </a:solidFill>
              </a:defRPr>
            </a:pPr>
            <a:r>
              <a:rPr kumimoji="0" sz="1200" b="1" i="0" u="none" strike="noStrike" kern="1200" cap="none" spc="0" normalizeH="0" baseline="0" noProof="0" dirty="0">
                <a:ln>
                  <a:noFill/>
                </a:ln>
                <a:solidFill>
                  <a:srgbClr val="0A8BCA"/>
                </a:solidFill>
                <a:effectLst/>
                <a:uLnTx/>
                <a:uFillTx/>
                <a:latin typeface="Aptos"/>
                <a:ea typeface="+mn-ea"/>
                <a:cs typeface="+mn-cs"/>
              </a:rPr>
              <a:t>ACTIONABLE INSIGHT</a:t>
            </a:r>
          </a:p>
          <a:p>
            <a:pPr marL="0" marR="0" lvl="0" indent="0" algn="l" defTabSz="914400" rtl="0" eaLnBrk="1" fontAlgn="auto" latinLnBrk="0" hangingPunct="1">
              <a:lnSpc>
                <a:spcPct val="100000"/>
              </a:lnSpc>
              <a:spcBef>
                <a:spcPts val="200"/>
              </a:spcBef>
              <a:spcAft>
                <a:spcPts val="0"/>
              </a:spcAft>
              <a:buClrTx/>
              <a:buSzTx/>
              <a:buFontTx/>
              <a:buNone/>
              <a:tabLst/>
              <a:defRPr sz="1070">
                <a:solidFill>
                  <a:srgbClr val="162B3E"/>
                </a:solidFill>
              </a:defRPr>
            </a:pPr>
            <a:r>
              <a:rPr kumimoji="0" sz="1200" b="0" i="0" u="none" strike="noStrike" kern="1200" cap="none" spc="0" normalizeH="0" baseline="0" noProof="0" dirty="0">
                <a:ln>
                  <a:noFill/>
                </a:ln>
                <a:solidFill>
                  <a:srgbClr val="1C3A56"/>
                </a:solidFill>
                <a:effectLst/>
                <a:uLnTx/>
                <a:uFillTx/>
                <a:latin typeface="Aptos"/>
                <a:ea typeface="+mn-ea"/>
                <a:cs typeface="+mn-cs"/>
              </a:rPr>
              <a:t>Mortality rises sharply in the most severe Killip/NYHA combinations—exceeding 20% at Killip. The analysis supports prioritizing ICU-level monitoring for high-severity combinations.</a:t>
            </a:r>
          </a:p>
        </p:txBody>
      </p:sp>
      <p:sp>
        <p:nvSpPr>
          <p:cNvPr id="11" name="Rounded Rectangle 10"/>
          <p:cNvSpPr/>
          <p:nvPr/>
        </p:nvSpPr>
        <p:spPr>
          <a:xfrm>
            <a:off x="6391656" y="4910328"/>
            <a:ext cx="4937760" cy="1033272"/>
          </a:xfrm>
          <a:prstGeom prst="roundRect">
            <a:avLst>
              <a:gd name="adj" fmla="val 8370"/>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lIns="128016" rIns="10972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200" b="1">
                <a:solidFill>
                  <a:srgbClr val="00796B"/>
                </a:solidFill>
              </a:defRPr>
            </a:pPr>
            <a:r>
              <a:rPr kumimoji="0" sz="1200" b="1" i="0" u="none" strike="noStrike" kern="1200" cap="none" spc="0" normalizeH="0" baseline="0" noProof="0" dirty="0">
                <a:ln>
                  <a:noFill/>
                </a:ln>
                <a:solidFill>
                  <a:srgbClr val="0A8BCA"/>
                </a:solidFill>
                <a:effectLst/>
                <a:uLnTx/>
                <a:uFillTx/>
                <a:latin typeface="Aptos"/>
                <a:ea typeface="+mn-ea"/>
                <a:cs typeface="+mn-cs"/>
              </a:rPr>
              <a:t>ACTIONABLE INSIGHT</a:t>
            </a:r>
          </a:p>
          <a:p>
            <a:pPr marL="0" marR="0" lvl="0" indent="0" algn="l" defTabSz="914400" rtl="0" eaLnBrk="1" fontAlgn="auto" latinLnBrk="0" hangingPunct="1">
              <a:lnSpc>
                <a:spcPct val="100000"/>
              </a:lnSpc>
              <a:spcBef>
                <a:spcPts val="200"/>
              </a:spcBef>
              <a:spcAft>
                <a:spcPts val="0"/>
              </a:spcAft>
              <a:buClrTx/>
              <a:buSzTx/>
              <a:buFontTx/>
              <a:buNone/>
              <a:tabLst/>
              <a:defRPr sz="1070">
                <a:solidFill>
                  <a:srgbClr val="162B3E"/>
                </a:solidFill>
              </a:defRPr>
            </a:pPr>
            <a:r>
              <a:rPr kumimoji="0" sz="1200" b="0" i="0" u="none" strike="noStrike" kern="1200" cap="none" spc="0" normalizeH="0" baseline="0" noProof="0" dirty="0">
                <a:ln>
                  <a:noFill/>
                </a:ln>
                <a:solidFill>
                  <a:srgbClr val="1C3A56"/>
                </a:solidFill>
                <a:effectLst/>
                <a:uLnTx/>
                <a:uFillTx/>
                <a:latin typeface="Aptos"/>
                <a:ea typeface="+mn-ea"/>
                <a:cs typeface="+mn-cs"/>
              </a:rPr>
              <a:t>ICU 28-day mortality was ~13.3% versus ~3.0% in General Ward and ~1.4% in Cardiology, supporting risk-based staffing rather than volume alone.</a:t>
            </a:r>
          </a:p>
        </p:txBody>
      </p:sp>
      <p:sp>
        <p:nvSpPr>
          <p:cNvPr id="12" name="Rounded Rectangle 11"/>
          <p:cNvSpPr/>
          <p:nvPr/>
        </p:nvSpPr>
        <p:spPr>
          <a:xfrm>
            <a:off x="448056" y="6163056"/>
            <a:ext cx="11155680" cy="274320"/>
          </a:xfrm>
          <a:prstGeom prst="round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210" b="1">
                <a:solidFill>
                  <a:srgbClr val="FFFFFF"/>
                </a:solidFill>
                <a:latin typeface="Aptos"/>
              </a:defRPr>
            </a:pPr>
            <a:r>
              <a:rPr kumimoji="0" sz="1210" b="1" i="0" u="none" strike="noStrike" kern="1200" cap="none" spc="0" normalizeH="0" baseline="0" noProof="0" dirty="0">
                <a:ln>
                  <a:noFill/>
                </a:ln>
                <a:solidFill>
                  <a:srgbClr val="1C3A56"/>
                </a:solidFill>
                <a:effectLst/>
                <a:uLnTx/>
                <a:uFillTx/>
                <a:latin typeface="Aptos"/>
                <a:ea typeface="+mn-ea"/>
                <a:cs typeface="+mn-cs"/>
              </a:rPr>
              <a:t>Prescriptive analysis converts observed risk patterns into focused, data-supported actions and resource priorities.</a:t>
            </a:r>
          </a:p>
        </p:txBody>
      </p:sp>
      <p:sp>
        <p:nvSpPr>
          <p:cNvPr id="15" name="Heart 14"/>
          <p:cNvSpPr/>
          <p:nvPr/>
        </p:nvSpPr>
        <p:spPr>
          <a:xfrm>
            <a:off x="11475720" y="256032"/>
            <a:ext cx="384048" cy="347472"/>
          </a:xfrm>
          <a:prstGeom prst="hear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a:off x="11539728" y="448056"/>
            <a:ext cx="64008" cy="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1603736" y="374904"/>
            <a:ext cx="36576" cy="73152"/>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640312" y="374904"/>
            <a:ext cx="45720" cy="13716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1686032" y="429768"/>
            <a:ext cx="45720" cy="82296"/>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731752" y="429768"/>
            <a:ext cx="64008" cy="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0" y="0"/>
            <a:ext cx="12192000" cy="109728"/>
          </a:xfrm>
          <a:prstGeom prst="rect">
            <a:avLst/>
          </a:prstGeom>
          <a:solidFill>
            <a:srgbClr val="0A3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Hexagon 22"/>
          <p:cNvSpPr/>
          <p:nvPr/>
        </p:nvSpPr>
        <p:spPr>
          <a:xfrm>
            <a:off x="11064240" y="440055"/>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Hexagon 23"/>
          <p:cNvSpPr/>
          <p:nvPr/>
        </p:nvSpPr>
        <p:spPr>
          <a:xfrm>
            <a:off x="11489436" y="704088"/>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Hexagon 24"/>
          <p:cNvSpPr/>
          <p:nvPr/>
        </p:nvSpPr>
        <p:spPr>
          <a:xfrm>
            <a:off x="11237976" y="5934456"/>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14" name="Rectangle 13"/>
          <p:cNvSpPr/>
          <p:nvPr/>
        </p:nvSpPr>
        <p:spPr>
          <a:xfrm>
            <a:off x="11795760" y="0"/>
            <a:ext cx="393192" cy="6858000"/>
          </a:xfrm>
          <a:prstGeom prst="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0"/>
            <a:ext cx="164592" cy="6858000"/>
          </a:xfrm>
          <a:prstGeom prst="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02920" y="256032"/>
            <a:ext cx="9857232"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162B3E"/>
                </a:solidFill>
                <a:latin typeface="Aptos Display"/>
              </a:defRPr>
            </a:pPr>
            <a:r>
              <a:rPr kumimoji="0" sz="2400" b="1" i="0" u="none" strike="noStrike" kern="1200" cap="none" spc="0" normalizeH="0" baseline="0" noProof="0" dirty="0">
                <a:ln>
                  <a:noFill/>
                </a:ln>
                <a:solidFill>
                  <a:srgbClr val="0A335F"/>
                </a:solidFill>
                <a:effectLst/>
                <a:uLnTx/>
                <a:uFillTx/>
                <a:latin typeface="Aptos"/>
                <a:ea typeface="+mn-ea"/>
                <a:cs typeface="+mn-cs"/>
              </a:rPr>
              <a:t>Predictive Analysis — Combining Signals to Identify Clinically Important Patterns</a:t>
            </a:r>
          </a:p>
        </p:txBody>
      </p:sp>
      <p:sp>
        <p:nvSpPr>
          <p:cNvPr id="3" name="Rounded Rectangle 2"/>
          <p:cNvSpPr/>
          <p:nvPr/>
        </p:nvSpPr>
        <p:spPr>
          <a:xfrm>
            <a:off x="502920" y="1069847"/>
            <a:ext cx="11155680" cy="602397"/>
          </a:xfrm>
          <a:prstGeom prst="round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320" b="1">
                <a:solidFill>
                  <a:srgbClr val="00796B"/>
                </a:solidFill>
                <a:latin typeface="Aptos"/>
              </a:defRPr>
            </a:pPr>
            <a:r>
              <a:rPr sz="1310" b="1" dirty="0">
                <a:solidFill>
                  <a:srgbClr val="0A8BCA"/>
                </a:solidFill>
                <a:latin typeface="Aptos"/>
              </a:rPr>
              <a:t>WHY IT MATTERS  •  Predictive modeling combines demographics, comorbidities, cardiac measures and laboratory markers to detect multivariable patterns that single metrics may miss.</a:t>
            </a:r>
          </a:p>
        </p:txBody>
      </p:sp>
      <p:sp>
        <p:nvSpPr>
          <p:cNvPr id="4" name="Rounded Rectangle 3"/>
          <p:cNvSpPr/>
          <p:nvPr/>
        </p:nvSpPr>
        <p:spPr>
          <a:xfrm>
            <a:off x="502920" y="1783080"/>
            <a:ext cx="5468112" cy="4343400"/>
          </a:xfrm>
          <a:prstGeom prst="roundRect">
            <a:avLst>
              <a:gd name="adj" fmla="val 3070"/>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a:ea typeface="+mn-ea"/>
              <a:cs typeface="+mn-cs"/>
            </a:endParaRPr>
          </a:p>
        </p:txBody>
      </p:sp>
      <p:sp>
        <p:nvSpPr>
          <p:cNvPr id="5" name="Rounded Rectangle 4"/>
          <p:cNvSpPr/>
          <p:nvPr/>
        </p:nvSpPr>
        <p:spPr>
          <a:xfrm>
            <a:off x="6144768" y="1783080"/>
            <a:ext cx="5468112" cy="4343400"/>
          </a:xfrm>
          <a:prstGeom prst="roundRect">
            <a:avLst>
              <a:gd name="adj" fmla="val 3290"/>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a:ea typeface="+mn-ea"/>
              <a:cs typeface="+mn-cs"/>
            </a:endParaRPr>
          </a:p>
        </p:txBody>
      </p:sp>
      <p:sp>
        <p:nvSpPr>
          <p:cNvPr id="6" name="TextBox 5"/>
          <p:cNvSpPr txBox="1"/>
          <p:nvPr/>
        </p:nvSpPr>
        <p:spPr>
          <a:xfrm>
            <a:off x="749808" y="1938528"/>
            <a:ext cx="4937760" cy="34747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530" b="1">
                <a:solidFill>
                  <a:srgbClr val="162B3E"/>
                </a:solidFill>
                <a:latin typeface="Aptos"/>
              </a:defRPr>
            </a:pPr>
            <a:r>
              <a:rPr kumimoji="0" sz="1530" b="1" i="0" u="none" strike="noStrike" kern="1200" cap="none" spc="0" normalizeH="0" baseline="0" noProof="0">
                <a:ln>
                  <a:noFill/>
                </a:ln>
                <a:solidFill>
                  <a:srgbClr val="1C3A56"/>
                </a:solidFill>
                <a:effectLst/>
                <a:uLnTx/>
                <a:uFillTx/>
                <a:latin typeface="Aptos"/>
                <a:ea typeface="+mn-ea"/>
                <a:cs typeface="+mn-cs"/>
              </a:rPr>
              <a:t>1  Model discrimination &amp; validation</a:t>
            </a:r>
          </a:p>
        </p:txBody>
      </p:sp>
      <p:sp>
        <p:nvSpPr>
          <p:cNvPr id="7" name="TextBox 6"/>
          <p:cNvSpPr txBox="1"/>
          <p:nvPr/>
        </p:nvSpPr>
        <p:spPr>
          <a:xfrm>
            <a:off x="6391656" y="1938528"/>
            <a:ext cx="4937760" cy="34747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530" b="1">
                <a:solidFill>
                  <a:srgbClr val="162B3E"/>
                </a:solidFill>
                <a:latin typeface="Aptos"/>
              </a:defRPr>
            </a:pPr>
            <a:r>
              <a:rPr kumimoji="0" sz="1530" b="1" i="0" u="none" strike="noStrike" kern="1200" cap="none" spc="0" normalizeH="0" baseline="0" noProof="0">
                <a:ln>
                  <a:noFill/>
                </a:ln>
                <a:solidFill>
                  <a:srgbClr val="1C3A56"/>
                </a:solidFill>
                <a:effectLst/>
                <a:uLnTx/>
                <a:uFillTx/>
                <a:latin typeface="Aptos"/>
                <a:ea typeface="+mn-ea"/>
                <a:cs typeface="+mn-cs"/>
              </a:rPr>
              <a:t>2  What drove the model?</a:t>
            </a:r>
          </a:p>
        </p:txBody>
      </p:sp>
      <p:pic>
        <p:nvPicPr>
          <p:cNvPr id="8" name="Picture 7" descr="predictive_curves.png"/>
          <p:cNvPicPr>
            <a:picLocks noChangeAspect="1"/>
          </p:cNvPicPr>
          <p:nvPr/>
        </p:nvPicPr>
        <p:blipFill>
          <a:blip r:embed="rId3"/>
          <a:stretch>
            <a:fillRect/>
          </a:stretch>
        </p:blipFill>
        <p:spPr>
          <a:xfrm>
            <a:off x="749808" y="2377440"/>
            <a:ext cx="4937760" cy="2441448"/>
          </a:xfrm>
          <a:prstGeom prst="rect">
            <a:avLst/>
          </a:prstGeom>
        </p:spPr>
      </p:pic>
      <p:pic>
        <p:nvPicPr>
          <p:cNvPr id="9" name="Picture 8" descr="predictive_importance.png"/>
          <p:cNvPicPr>
            <a:picLocks noChangeAspect="1"/>
          </p:cNvPicPr>
          <p:nvPr/>
        </p:nvPicPr>
        <p:blipFill>
          <a:blip r:embed="rId4"/>
          <a:stretch>
            <a:fillRect/>
          </a:stretch>
        </p:blipFill>
        <p:spPr>
          <a:xfrm>
            <a:off x="6391656" y="2377440"/>
            <a:ext cx="4937760" cy="2441448"/>
          </a:xfrm>
          <a:prstGeom prst="rect">
            <a:avLst/>
          </a:prstGeom>
        </p:spPr>
      </p:pic>
      <p:sp>
        <p:nvSpPr>
          <p:cNvPr id="10" name="Rounded Rectangle 9"/>
          <p:cNvSpPr/>
          <p:nvPr/>
        </p:nvSpPr>
        <p:spPr>
          <a:xfrm>
            <a:off x="749808" y="4910328"/>
            <a:ext cx="4937760" cy="1033272"/>
          </a:xfrm>
          <a:prstGeom prst="roundRect">
            <a:avLst>
              <a:gd name="adj" fmla="val 6527"/>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lIns="128016" rIns="10972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200" b="1">
                <a:solidFill>
                  <a:srgbClr val="00796B"/>
                </a:solidFill>
              </a:defRPr>
            </a:pPr>
            <a:r>
              <a:rPr kumimoji="0" sz="1200" b="1" i="0" u="none" strike="noStrike" kern="1200" cap="none" spc="0" normalizeH="0" baseline="0" noProof="0" dirty="0">
                <a:ln>
                  <a:noFill/>
                </a:ln>
                <a:solidFill>
                  <a:srgbClr val="0A8BCA"/>
                </a:solidFill>
                <a:effectLst/>
                <a:uLnTx/>
                <a:uFillTx/>
                <a:latin typeface="Aptos"/>
                <a:ea typeface="+mn-ea"/>
                <a:cs typeface="+mn-cs"/>
              </a:rPr>
              <a:t>VALIDATED RESULT</a:t>
            </a:r>
          </a:p>
          <a:p>
            <a:pPr marL="0" marR="0" lvl="0" indent="0" algn="l" defTabSz="914400" rtl="0" eaLnBrk="1" fontAlgn="auto" latinLnBrk="0" hangingPunct="1">
              <a:lnSpc>
                <a:spcPct val="100000"/>
              </a:lnSpc>
              <a:spcBef>
                <a:spcPts val="200"/>
              </a:spcBef>
              <a:spcAft>
                <a:spcPts val="0"/>
              </a:spcAft>
              <a:buClrTx/>
              <a:buSzTx/>
              <a:buFontTx/>
              <a:buNone/>
              <a:tabLst/>
              <a:defRPr sz="1070">
                <a:solidFill>
                  <a:srgbClr val="162B3E"/>
                </a:solidFill>
              </a:defRPr>
            </a:pPr>
            <a:r>
              <a:rPr kumimoji="0" sz="1200" b="0" i="0" u="none" strike="noStrike" kern="1200" cap="none" spc="0" normalizeH="0" baseline="0" noProof="0" dirty="0">
                <a:ln>
                  <a:noFill/>
                </a:ln>
                <a:solidFill>
                  <a:srgbClr val="1C3A56"/>
                </a:solidFill>
                <a:effectLst/>
                <a:uLnTx/>
                <a:uFillTx/>
                <a:latin typeface="Aptos"/>
                <a:ea typeface="+mn-ea"/>
                <a:cs typeface="+mn-cs"/>
              </a:rPr>
              <a:t>The selected extended logistic model achieved held-out ROC-AUC 0.920 (95% bootstrap CI 0.863–0.964) and average precision 0.469 on 402 unseen patients.</a:t>
            </a:r>
          </a:p>
        </p:txBody>
      </p:sp>
      <p:sp>
        <p:nvSpPr>
          <p:cNvPr id="11" name="Rounded Rectangle 10"/>
          <p:cNvSpPr/>
          <p:nvPr/>
        </p:nvSpPr>
        <p:spPr>
          <a:xfrm>
            <a:off x="6391656" y="4929724"/>
            <a:ext cx="4937760" cy="1013876"/>
          </a:xfrm>
          <a:prstGeom prst="roundRect">
            <a:avLst>
              <a:gd name="adj" fmla="val 7565"/>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lIns="128016" rIns="10972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200" b="1">
                <a:solidFill>
                  <a:srgbClr val="00796B"/>
                </a:solidFill>
              </a:defRPr>
            </a:pPr>
            <a:r>
              <a:rPr kumimoji="0" sz="1200" b="1" i="0" u="none" strike="noStrike" kern="1200" cap="none" spc="0" normalizeH="0" baseline="0" noProof="0" dirty="0">
                <a:ln>
                  <a:noFill/>
                </a:ln>
                <a:solidFill>
                  <a:srgbClr val="0A8BCA"/>
                </a:solidFill>
                <a:effectLst/>
                <a:uLnTx/>
                <a:uFillTx/>
                <a:latin typeface="Aptos"/>
                <a:ea typeface="+mn-ea"/>
                <a:cs typeface="+mn-cs"/>
              </a:rPr>
              <a:t>KEY MODEL INSIGHT</a:t>
            </a:r>
          </a:p>
          <a:p>
            <a:pPr marL="0" marR="0" lvl="0" indent="0" algn="l" defTabSz="914400" rtl="0" eaLnBrk="1" fontAlgn="auto" latinLnBrk="0" hangingPunct="1">
              <a:lnSpc>
                <a:spcPct val="100000"/>
              </a:lnSpc>
              <a:spcBef>
                <a:spcPts val="200"/>
              </a:spcBef>
              <a:spcAft>
                <a:spcPts val="0"/>
              </a:spcAft>
              <a:buClrTx/>
              <a:buSzTx/>
              <a:buFontTx/>
              <a:buNone/>
              <a:tabLst/>
              <a:defRPr sz="1070">
                <a:solidFill>
                  <a:srgbClr val="162B3E"/>
                </a:solidFill>
              </a:defRPr>
            </a:pPr>
            <a:r>
              <a:rPr kumimoji="0" sz="1200" b="0" i="0" u="none" strike="noStrike" kern="1200" cap="none" spc="0" normalizeH="0" baseline="0" noProof="0" dirty="0">
                <a:ln>
                  <a:noFill/>
                </a:ln>
                <a:solidFill>
                  <a:srgbClr val="1C3A56"/>
                </a:solidFill>
                <a:effectLst/>
                <a:uLnTx/>
                <a:uFillTx/>
                <a:latin typeface="Aptos"/>
                <a:ea typeface="+mn-ea"/>
                <a:cs typeface="+mn-cs"/>
              </a:rPr>
              <a:t>CCI score produced the largest permutation-importance drop in ROC-AUC, followed by CKD, COPD and diabetes—showing the importance of combined comorbidity burden.</a:t>
            </a:r>
          </a:p>
        </p:txBody>
      </p:sp>
      <p:sp>
        <p:nvSpPr>
          <p:cNvPr id="12" name="Rounded Rectangle 11"/>
          <p:cNvSpPr/>
          <p:nvPr/>
        </p:nvSpPr>
        <p:spPr>
          <a:xfrm>
            <a:off x="502920" y="6217920"/>
            <a:ext cx="11155680" cy="278130"/>
          </a:xfrm>
          <a:prstGeom prst="round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lvl="0" algn="ctr">
              <a:defRPr sz="1210" b="1">
                <a:solidFill>
                  <a:srgbClr val="FFFFFF"/>
                </a:solidFill>
                <a:latin typeface="Aptos"/>
              </a:defRPr>
            </a:pPr>
            <a:r>
              <a:rPr lang="en-US" sz="1210" b="1" dirty="0">
                <a:solidFill>
                  <a:srgbClr val="1C3A56"/>
                </a:solidFill>
                <a:latin typeface="Aptos"/>
              </a:rPr>
              <a:t>The predictive model identified meaningful patterns across multiple clinical factors, helping distinguish patients with higher-risk profiles.</a:t>
            </a:r>
            <a:endParaRPr kumimoji="0" sz="1210" b="1" i="0" u="none" strike="noStrike" kern="1200" cap="none" spc="0" normalizeH="0" baseline="0" noProof="0" dirty="0">
              <a:ln>
                <a:noFill/>
              </a:ln>
              <a:solidFill>
                <a:srgbClr val="FFFFFF"/>
              </a:solidFill>
              <a:effectLst/>
              <a:uLnTx/>
              <a:uFillTx/>
              <a:latin typeface="Aptos"/>
              <a:ea typeface="+mn-ea"/>
              <a:cs typeface="+mn-cs"/>
            </a:endParaRPr>
          </a:p>
        </p:txBody>
      </p:sp>
      <p:sp>
        <p:nvSpPr>
          <p:cNvPr id="15" name="Heart 14"/>
          <p:cNvSpPr/>
          <p:nvPr/>
        </p:nvSpPr>
        <p:spPr>
          <a:xfrm>
            <a:off x="11475720" y="256032"/>
            <a:ext cx="384048" cy="347472"/>
          </a:xfrm>
          <a:prstGeom prst="hear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a:off x="11539728" y="448056"/>
            <a:ext cx="64008" cy="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1603736" y="374904"/>
            <a:ext cx="36576" cy="73152"/>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640312" y="374904"/>
            <a:ext cx="45720" cy="13716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1686032" y="429768"/>
            <a:ext cx="45720" cy="82296"/>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731752" y="429768"/>
            <a:ext cx="64008" cy="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0" y="0"/>
            <a:ext cx="12192000" cy="109728"/>
          </a:xfrm>
          <a:prstGeom prst="rect">
            <a:avLst/>
          </a:prstGeom>
          <a:solidFill>
            <a:srgbClr val="0A3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Hexagon 22"/>
          <p:cNvSpPr/>
          <p:nvPr/>
        </p:nvSpPr>
        <p:spPr>
          <a:xfrm>
            <a:off x="10067544" y="256032"/>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Hexagon 23"/>
          <p:cNvSpPr/>
          <p:nvPr/>
        </p:nvSpPr>
        <p:spPr>
          <a:xfrm>
            <a:off x="10483596" y="530906"/>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Hexagon 24"/>
          <p:cNvSpPr/>
          <p:nvPr/>
        </p:nvSpPr>
        <p:spPr>
          <a:xfrm>
            <a:off x="10904220" y="265176"/>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a:extLst>
            <a:ext uri="{FF2B5EF4-FFF2-40B4-BE49-F238E27FC236}">
              <a16:creationId xmlns:a16="http://schemas.microsoft.com/office/drawing/2014/main" xmlns="" id="{EC6BABC4-E19E-3F9F-3036-6FAA3C8F8175}"/>
            </a:ext>
          </a:extLst>
        </p:cNvPr>
        <p:cNvGrpSpPr/>
        <p:nvPr/>
      </p:nvGrpSpPr>
      <p:grpSpPr>
        <a:xfrm>
          <a:off x="0" y="0"/>
          <a:ext cx="0" cy="0"/>
          <a:chOff x="0" y="0"/>
          <a:chExt cx="0" cy="0"/>
        </a:xfrm>
      </p:grpSpPr>
      <p:sp>
        <p:nvSpPr>
          <p:cNvPr id="27" name="Rectangle 26"/>
          <p:cNvSpPr/>
          <p:nvPr/>
        </p:nvSpPr>
        <p:spPr>
          <a:xfrm>
            <a:off x="11795760" y="0"/>
            <a:ext cx="393192" cy="6858000"/>
          </a:xfrm>
          <a:prstGeom prst="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0"/>
            <a:ext cx="164592" cy="6858000"/>
          </a:xfrm>
          <a:prstGeom prst="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 2">
            <a:extLst>
              <a:ext uri="{FF2B5EF4-FFF2-40B4-BE49-F238E27FC236}">
                <a16:creationId xmlns:a16="http://schemas.microsoft.com/office/drawing/2014/main" xmlns="" id="{F284CB9A-1956-1903-7F7D-CCCF3055EA3B}"/>
              </a:ext>
            </a:extLst>
          </p:cNvPr>
          <p:cNvSpPr/>
          <p:nvPr/>
        </p:nvSpPr>
        <p:spPr>
          <a:xfrm>
            <a:off x="658368" y="1161288"/>
            <a:ext cx="10844784" cy="530352"/>
          </a:xfrm>
          <a:prstGeom prst="rect">
            <a:avLst/>
          </a:prstGeom>
          <a:solidFill>
            <a:srgbClr val="EBF7FD"/>
          </a:solidFill>
          <a:ln>
            <a:solidFill>
              <a:srgbClr val="BEDEEE"/>
            </a:solidFill>
          </a:ln>
        </p:spPr>
        <p:txBody>
          <a:bodyPr wrap="square" lIns="0" tIns="0" rIns="0" bIns="0" rtlCol="0" anchor="ctr"/>
          <a:lstStyle/>
          <a:p>
            <a:r>
              <a:rPr lang="en-US" sz="1300" dirty="0" smtClean="0">
                <a:solidFill>
                  <a:srgbClr val="1C3A56"/>
                </a:solidFill>
                <a:latin typeface="Aptos"/>
              </a:rPr>
              <a:t> </a:t>
            </a:r>
            <a:r>
              <a:rPr lang="en-US" sz="1600" b="1" dirty="0">
                <a:solidFill>
                  <a:srgbClr val="0A8BCA"/>
                </a:solidFill>
                <a:latin typeface="Aptos"/>
              </a:rPr>
              <a:t>Dashboard Link : </a:t>
            </a:r>
            <a:r>
              <a:rPr lang="en-US" sz="1600" b="1" dirty="0" smtClean="0">
                <a:solidFill>
                  <a:srgbClr val="0A8BCA"/>
                </a:solidFill>
                <a:hlinkClick r:id="rId3"/>
              </a:rPr>
              <a:t>Team7_CodeAvengers_Dashboard_Link</a:t>
            </a:r>
            <a:endParaRPr lang="en-US" sz="1600" b="1" dirty="0">
              <a:solidFill>
                <a:srgbClr val="0A8BCA"/>
              </a:solidFill>
              <a:latin typeface="Aptos"/>
            </a:endParaRPr>
          </a:p>
        </p:txBody>
      </p:sp>
      <p:sp>
        <p:nvSpPr>
          <p:cNvPr id="5" name="Shape 3">
            <a:extLst>
              <a:ext uri="{FF2B5EF4-FFF2-40B4-BE49-F238E27FC236}">
                <a16:creationId xmlns:a16="http://schemas.microsoft.com/office/drawing/2014/main" xmlns="" id="{34EB97EC-1C99-C647-1B99-F02977920D13}"/>
              </a:ext>
            </a:extLst>
          </p:cNvPr>
          <p:cNvSpPr/>
          <p:nvPr/>
        </p:nvSpPr>
        <p:spPr>
          <a:xfrm>
            <a:off x="658368" y="1783080"/>
            <a:ext cx="8321040" cy="4251960"/>
          </a:xfrm>
          <a:prstGeom prst="roundRect">
            <a:avLst>
              <a:gd name="adj" fmla="val 1075"/>
            </a:avLst>
          </a:prstGeom>
          <a:solidFill>
            <a:srgbClr val="FCFEFF"/>
          </a:solidFill>
          <a:ln w="19050">
            <a:solidFill>
              <a:srgbClr val="BEDEEE"/>
            </a:solidFill>
            <a:prstDash val="solid"/>
          </a:ln>
        </p:spPr>
        <p:txBody>
          <a:bodyPr/>
          <a:lstStyle/>
          <a:p>
            <a:endParaRPr lang="en-US"/>
          </a:p>
        </p:txBody>
      </p:sp>
      <p:sp>
        <p:nvSpPr>
          <p:cNvPr id="6" name="Text 4">
            <a:extLst>
              <a:ext uri="{FF2B5EF4-FFF2-40B4-BE49-F238E27FC236}">
                <a16:creationId xmlns:a16="http://schemas.microsoft.com/office/drawing/2014/main" xmlns="" id="{E646E1A1-DB27-CBF9-AC8A-F0BFBBDC187E}"/>
              </a:ext>
            </a:extLst>
          </p:cNvPr>
          <p:cNvSpPr/>
          <p:nvPr/>
        </p:nvSpPr>
        <p:spPr>
          <a:xfrm>
            <a:off x="1874520" y="3154680"/>
            <a:ext cx="5897880" cy="777240"/>
          </a:xfrm>
          <a:prstGeom prst="rect">
            <a:avLst/>
          </a:prstGeom>
          <a:solidFill>
            <a:srgbClr val="EBF7FD"/>
          </a:solidFill>
          <a:ln>
            <a:solidFill>
              <a:srgbClr val="BEDEEE"/>
            </a:solidFill>
          </a:ln>
        </p:spPr>
        <p:txBody>
          <a:bodyPr wrap="square" lIns="0" tIns="0" rIns="0" bIns="0" rtlCol="0" anchor="ctr"/>
          <a:lstStyle/>
          <a:p>
            <a:pPr marL="0" indent="0" algn="ctr">
              <a:buNone/>
            </a:pPr>
            <a:r>
              <a:rPr lang="en-US" sz="2400" b="1">
                <a:solidFill>
                  <a:srgbClr val="0A335F"/>
                </a:solidFill>
                <a:latin typeface="Aptos"/>
              </a:rPr>
              <a:t>DROP FINAL</a:t>
            </a:r>
            <a:endParaRPr lang="en-US" sz="2400" dirty="0"/>
          </a:p>
          <a:p>
            <a:pPr marL="0" indent="0" algn="ctr">
              <a:buNone/>
            </a:pPr>
            <a:r>
              <a:rPr lang="en-US" sz="2400" b="1" dirty="0">
                <a:solidFill>
                  <a:srgbClr val="0A335F"/>
                </a:solidFill>
                <a:latin typeface="Aptos"/>
              </a:rPr>
              <a:t>DASHBOARD SCREENSHOT HERE</a:t>
            </a:r>
            <a:endParaRPr lang="en-US" sz="2400" dirty="0"/>
          </a:p>
        </p:txBody>
      </p:sp>
      <p:sp>
        <p:nvSpPr>
          <p:cNvPr id="7" name="Shape 5">
            <a:extLst>
              <a:ext uri="{FF2B5EF4-FFF2-40B4-BE49-F238E27FC236}">
                <a16:creationId xmlns:a16="http://schemas.microsoft.com/office/drawing/2014/main" xmlns="" id="{C4E438D2-3516-40F0-DD6C-85C666108FF3}"/>
              </a:ext>
            </a:extLst>
          </p:cNvPr>
          <p:cNvSpPr/>
          <p:nvPr/>
        </p:nvSpPr>
        <p:spPr>
          <a:xfrm>
            <a:off x="9281160" y="1783080"/>
            <a:ext cx="2240280" cy="4251960"/>
          </a:xfrm>
          <a:prstGeom prst="roundRect">
            <a:avLst>
              <a:gd name="adj" fmla="val 2449"/>
            </a:avLst>
          </a:prstGeom>
          <a:solidFill>
            <a:srgbClr val="EBF7FD"/>
          </a:solidFill>
          <a:ln w="12700">
            <a:solidFill>
              <a:srgbClr val="BEDEEE"/>
            </a:solidFill>
            <a:prstDash val="solid"/>
          </a:ln>
        </p:spPr>
        <p:txBody>
          <a:bodyPr/>
          <a:lstStyle/>
          <a:p>
            <a:endParaRPr lang="en-US"/>
          </a:p>
        </p:txBody>
      </p:sp>
      <p:sp>
        <p:nvSpPr>
          <p:cNvPr id="8" name="Text 6">
            <a:extLst>
              <a:ext uri="{FF2B5EF4-FFF2-40B4-BE49-F238E27FC236}">
                <a16:creationId xmlns:a16="http://schemas.microsoft.com/office/drawing/2014/main" xmlns="" id="{9C0767F4-651E-E800-2F3D-A8FFEC42598E}"/>
              </a:ext>
            </a:extLst>
          </p:cNvPr>
          <p:cNvSpPr/>
          <p:nvPr/>
        </p:nvSpPr>
        <p:spPr>
          <a:xfrm>
            <a:off x="9582912" y="2103120"/>
            <a:ext cx="1645920" cy="201168"/>
          </a:xfrm>
          <a:prstGeom prst="rect">
            <a:avLst/>
          </a:prstGeom>
          <a:solidFill>
            <a:srgbClr val="EBF7FD"/>
          </a:solidFill>
          <a:ln>
            <a:solidFill>
              <a:srgbClr val="BEDEEE"/>
            </a:solidFill>
          </a:ln>
        </p:spPr>
        <p:txBody>
          <a:bodyPr wrap="square" lIns="0" tIns="0" rIns="0" bIns="0" rtlCol="0" anchor="ctr"/>
          <a:lstStyle/>
          <a:p>
            <a:pPr marL="0" indent="0" algn="ctr">
              <a:buNone/>
            </a:pPr>
            <a:r>
              <a:rPr lang="en-US" sz="1200" b="1" dirty="0">
                <a:solidFill>
                  <a:srgbClr val="0A8BCA"/>
                </a:solidFill>
                <a:latin typeface="Aptos"/>
              </a:rPr>
              <a:t>DEMO FLOW</a:t>
            </a:r>
            <a:endParaRPr lang="en-US" sz="1200" dirty="0"/>
          </a:p>
        </p:txBody>
      </p:sp>
      <p:sp>
        <p:nvSpPr>
          <p:cNvPr id="9" name="Text 7">
            <a:extLst>
              <a:ext uri="{FF2B5EF4-FFF2-40B4-BE49-F238E27FC236}">
                <a16:creationId xmlns:a16="http://schemas.microsoft.com/office/drawing/2014/main" xmlns="" id="{66F25213-390D-A9B2-1CC5-47739B2E63F9}"/>
              </a:ext>
            </a:extLst>
          </p:cNvPr>
          <p:cNvSpPr/>
          <p:nvPr/>
        </p:nvSpPr>
        <p:spPr>
          <a:xfrm>
            <a:off x="9555480" y="2697480"/>
            <a:ext cx="1691640" cy="310896"/>
          </a:xfrm>
          <a:prstGeom prst="rect">
            <a:avLst/>
          </a:prstGeom>
          <a:solidFill>
            <a:srgbClr val="EBF7FD"/>
          </a:solidFill>
          <a:ln>
            <a:solidFill>
              <a:srgbClr val="BEDEEE"/>
            </a:solidFill>
          </a:ln>
        </p:spPr>
        <p:txBody>
          <a:bodyPr wrap="square" lIns="0" tIns="0" rIns="0" bIns="0" rtlCol="0" anchor="ctr">
            <a:normAutofit/>
          </a:bodyPr>
          <a:lstStyle/>
          <a:p>
            <a:pPr marL="0" indent="0">
              <a:buNone/>
            </a:pPr>
            <a:r>
              <a:rPr lang="en-US" sz="1100" b="1" dirty="0">
                <a:solidFill>
                  <a:srgbClr val="1C3A56"/>
                </a:solidFill>
                <a:latin typeface="Aptos"/>
              </a:rPr>
              <a:t>1  Cohort snapshot</a:t>
            </a:r>
            <a:endParaRPr lang="en-US" sz="1100" dirty="0"/>
          </a:p>
        </p:txBody>
      </p:sp>
      <p:sp>
        <p:nvSpPr>
          <p:cNvPr id="10" name="Text 8">
            <a:extLst>
              <a:ext uri="{FF2B5EF4-FFF2-40B4-BE49-F238E27FC236}">
                <a16:creationId xmlns:a16="http://schemas.microsoft.com/office/drawing/2014/main" xmlns="" id="{FDE7C964-C28F-0B75-6403-D760E198F51C}"/>
              </a:ext>
            </a:extLst>
          </p:cNvPr>
          <p:cNvSpPr/>
          <p:nvPr/>
        </p:nvSpPr>
        <p:spPr>
          <a:xfrm>
            <a:off x="9555480" y="3310128"/>
            <a:ext cx="1691640" cy="310896"/>
          </a:xfrm>
          <a:prstGeom prst="rect">
            <a:avLst/>
          </a:prstGeom>
          <a:solidFill>
            <a:srgbClr val="EBF7FD"/>
          </a:solidFill>
          <a:ln>
            <a:solidFill>
              <a:srgbClr val="BEDEEE"/>
            </a:solidFill>
          </a:ln>
        </p:spPr>
        <p:txBody>
          <a:bodyPr wrap="square" lIns="0" tIns="0" rIns="0" bIns="0" rtlCol="0" anchor="ctr">
            <a:normAutofit/>
          </a:bodyPr>
          <a:lstStyle/>
          <a:p>
            <a:pPr marL="0" indent="0">
              <a:buNone/>
            </a:pPr>
            <a:r>
              <a:rPr lang="en-US" sz="1100" dirty="0">
                <a:solidFill>
                  <a:srgbClr val="1C3A56"/>
                </a:solidFill>
                <a:latin typeface="Aptos"/>
              </a:rPr>
              <a:t>2  Key clinical patterns</a:t>
            </a:r>
            <a:endParaRPr lang="en-US" sz="1100" dirty="0"/>
          </a:p>
        </p:txBody>
      </p:sp>
      <p:sp>
        <p:nvSpPr>
          <p:cNvPr id="11" name="Text 9">
            <a:extLst>
              <a:ext uri="{FF2B5EF4-FFF2-40B4-BE49-F238E27FC236}">
                <a16:creationId xmlns:a16="http://schemas.microsoft.com/office/drawing/2014/main" xmlns="" id="{0C86D8B0-F896-D627-7E5F-A2E71D76D609}"/>
              </a:ext>
            </a:extLst>
          </p:cNvPr>
          <p:cNvSpPr/>
          <p:nvPr/>
        </p:nvSpPr>
        <p:spPr>
          <a:xfrm>
            <a:off x="9555480" y="3922776"/>
            <a:ext cx="1691640" cy="310896"/>
          </a:xfrm>
          <a:prstGeom prst="rect">
            <a:avLst/>
          </a:prstGeom>
          <a:solidFill>
            <a:srgbClr val="EBF7FD"/>
          </a:solidFill>
          <a:ln>
            <a:solidFill>
              <a:srgbClr val="BEDEEE"/>
            </a:solidFill>
          </a:ln>
        </p:spPr>
        <p:txBody>
          <a:bodyPr wrap="square" lIns="0" tIns="0" rIns="0" bIns="0" rtlCol="0" anchor="ctr">
            <a:normAutofit/>
          </a:bodyPr>
          <a:lstStyle/>
          <a:p>
            <a:pPr marL="0" indent="0">
              <a:buNone/>
            </a:pPr>
            <a:r>
              <a:rPr lang="en-US" sz="1100" dirty="0">
                <a:solidFill>
                  <a:srgbClr val="1C3A56"/>
                </a:solidFill>
                <a:latin typeface="Aptos"/>
              </a:rPr>
              <a:t>3  Risk / priority view</a:t>
            </a:r>
            <a:endParaRPr lang="en-US" sz="1100" dirty="0"/>
          </a:p>
        </p:txBody>
      </p:sp>
      <p:sp>
        <p:nvSpPr>
          <p:cNvPr id="12" name="Text 10">
            <a:extLst>
              <a:ext uri="{FF2B5EF4-FFF2-40B4-BE49-F238E27FC236}">
                <a16:creationId xmlns:a16="http://schemas.microsoft.com/office/drawing/2014/main" xmlns="" id="{44C4D982-81F4-B194-8562-025C8ECBB101}"/>
              </a:ext>
            </a:extLst>
          </p:cNvPr>
          <p:cNvSpPr/>
          <p:nvPr/>
        </p:nvSpPr>
        <p:spPr>
          <a:xfrm>
            <a:off x="9555480" y="4535424"/>
            <a:ext cx="1691640" cy="310896"/>
          </a:xfrm>
          <a:prstGeom prst="rect">
            <a:avLst/>
          </a:prstGeom>
          <a:solidFill>
            <a:srgbClr val="EBF7FD"/>
          </a:solidFill>
          <a:ln>
            <a:solidFill>
              <a:srgbClr val="BEDEEE"/>
            </a:solidFill>
          </a:ln>
        </p:spPr>
        <p:txBody>
          <a:bodyPr wrap="square" lIns="0" tIns="0" rIns="0" bIns="0" rtlCol="0" anchor="ctr">
            <a:normAutofit/>
          </a:bodyPr>
          <a:lstStyle/>
          <a:p>
            <a:pPr marL="0" indent="0">
              <a:buNone/>
            </a:pPr>
            <a:r>
              <a:rPr lang="en-US" sz="1100" dirty="0">
                <a:solidFill>
                  <a:srgbClr val="1C3A56"/>
                </a:solidFill>
                <a:latin typeface="Aptos"/>
              </a:rPr>
              <a:t>4  Outcome &amp; follow-up</a:t>
            </a:r>
            <a:endParaRPr lang="en-US" sz="1100" dirty="0"/>
          </a:p>
        </p:txBody>
      </p:sp>
      <p:sp>
        <p:nvSpPr>
          <p:cNvPr id="25" name="Slide Number Placeholder 0">
            <a:extLst>
              <a:ext uri="{FF2B5EF4-FFF2-40B4-BE49-F238E27FC236}">
                <a16:creationId xmlns:a16="http://schemas.microsoft.com/office/drawing/2014/main" xmlns="" id="{37BC8025-CEE4-97A7-0E3B-2E49E1926886}"/>
              </a:ext>
            </a:extLst>
          </p:cNvPr>
          <p:cNvSpPr>
            <a:spLocks noGrp="1"/>
          </p:cNvSpPr>
          <p:nvPr>
            <p:ph type="sldNum" sz="quarter" idx="4294967295"/>
          </p:nvPr>
        </p:nvSpPr>
        <p:spPr>
          <a:xfrm>
            <a:off x="11722608" y="6492240"/>
            <a:ext cx="18288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94A3B8"/>
                </a:solidFill>
                <a:latin typeface="Aptos"/>
                <a:ea typeface="Aptos"/>
                <a:cs typeface="Aptos"/>
              </a:defRPr>
            </a:lvl1pPr>
          </a:lstStyle>
          <a:p>
            <a:pPr algn="l"/>
            <a:fld id="{F7021451-1387-4CA6-816F-3879F97B5CBC}" type="slidenum">
              <a:rPr lang="en-US" b="0"/>
              <a:t>7</a:t>
            </a:fld>
            <a:endParaRPr lang="en-US"/>
          </a:p>
        </p:txBody>
      </p:sp>
      <p:sp>
        <p:nvSpPr>
          <p:cNvPr id="28" name="Heart 27"/>
          <p:cNvSpPr/>
          <p:nvPr/>
        </p:nvSpPr>
        <p:spPr>
          <a:xfrm>
            <a:off x="11475720" y="256032"/>
            <a:ext cx="384048" cy="347472"/>
          </a:xfrm>
          <a:prstGeom prst="hear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28"/>
          <p:cNvCxnSpPr/>
          <p:nvPr/>
        </p:nvCxnSpPr>
        <p:spPr>
          <a:xfrm>
            <a:off x="11539728" y="448056"/>
            <a:ext cx="64008" cy="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1603736" y="374904"/>
            <a:ext cx="36576" cy="73152"/>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1640312" y="374904"/>
            <a:ext cx="45720" cy="13716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1686032" y="429768"/>
            <a:ext cx="45720" cy="82296"/>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1731752" y="429768"/>
            <a:ext cx="64008" cy="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0" y="0"/>
            <a:ext cx="12192000" cy="109728"/>
          </a:xfrm>
          <a:prstGeom prst="rect">
            <a:avLst/>
          </a:prstGeom>
          <a:solidFill>
            <a:srgbClr val="0A3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Hexagon 35"/>
          <p:cNvSpPr/>
          <p:nvPr/>
        </p:nvSpPr>
        <p:spPr>
          <a:xfrm>
            <a:off x="10469880" y="438912"/>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Hexagon 36"/>
          <p:cNvSpPr/>
          <p:nvPr/>
        </p:nvSpPr>
        <p:spPr>
          <a:xfrm>
            <a:off x="10853928" y="758952"/>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Hexagon 37"/>
          <p:cNvSpPr/>
          <p:nvPr/>
        </p:nvSpPr>
        <p:spPr>
          <a:xfrm>
            <a:off x="11237976" y="1078992"/>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584835"/>
            <a:ext cx="9978009" cy="461665"/>
          </a:xfrm>
          <a:prstGeom prst="rect">
            <a:avLst/>
          </a:prstGeom>
          <a:noFill/>
        </p:spPr>
        <p:txBody>
          <a:bodyPr wrap="square" rtlCol="0">
            <a:spAutoFit/>
          </a:bodyPr>
          <a:lstStyle/>
          <a:p>
            <a:r>
              <a:rPr lang="en-US" sz="2400" b="1" dirty="0">
                <a:solidFill>
                  <a:srgbClr val="0A335F"/>
                </a:solidFill>
                <a:latin typeface="Aptos"/>
              </a:rPr>
              <a:t>Dashboard - One view for cohort profile, risk signals and outcomes</a:t>
            </a:r>
          </a:p>
        </p:txBody>
      </p:sp>
      <p:pic>
        <p:nvPicPr>
          <p:cNvPr id="16" name="Picture 15"/>
          <p:cNvPicPr>
            <a:picLocks noChangeAspect="1"/>
          </p:cNvPicPr>
          <p:nvPr/>
        </p:nvPicPr>
        <p:blipFill>
          <a:blip r:embed="rId4"/>
          <a:stretch>
            <a:fillRect/>
          </a:stretch>
        </p:blipFill>
        <p:spPr>
          <a:xfrm>
            <a:off x="903836" y="1856232"/>
            <a:ext cx="7830103" cy="4026674"/>
          </a:xfrm>
          <a:prstGeom prst="rect">
            <a:avLst/>
          </a:prstGeom>
        </p:spPr>
      </p:pic>
    </p:spTree>
    <p:extLst>
      <p:ext uri="{BB962C8B-B14F-4D97-AF65-F5344CB8AC3E}">
        <p14:creationId xmlns:p14="http://schemas.microsoft.com/office/powerpoint/2010/main" val="22770317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3" name="Rectangle 2"/>
          <p:cNvSpPr/>
          <p:nvPr/>
        </p:nvSpPr>
        <p:spPr>
          <a:xfrm>
            <a:off x="11795760" y="0"/>
            <a:ext cx="393192" cy="6858000"/>
          </a:xfrm>
          <a:prstGeom prst="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64592" cy="6858000"/>
          </a:xfrm>
          <a:prstGeom prst="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rt 3"/>
          <p:cNvSpPr/>
          <p:nvPr/>
        </p:nvSpPr>
        <p:spPr>
          <a:xfrm>
            <a:off x="11475720" y="256032"/>
            <a:ext cx="384048" cy="347472"/>
          </a:xfrm>
          <a:prstGeom prst="hear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539728" y="448056"/>
            <a:ext cx="64008" cy="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1603736" y="374904"/>
            <a:ext cx="36576" cy="73152"/>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640312" y="374904"/>
            <a:ext cx="45720" cy="13716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686032" y="429768"/>
            <a:ext cx="45720" cy="82296"/>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731752" y="429768"/>
            <a:ext cx="64008" cy="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67512" y="340668"/>
            <a:ext cx="3771137" cy="461665"/>
          </a:xfrm>
          <a:prstGeom prst="rect">
            <a:avLst/>
          </a:prstGeom>
          <a:noFill/>
        </p:spPr>
        <p:txBody>
          <a:bodyPr wrap="square" anchor="ctr">
            <a:spAutoFit/>
          </a:bodyPr>
          <a:lstStyle/>
          <a:p>
            <a:pPr algn="l"/>
            <a:r>
              <a:rPr sz="2400" b="1" dirty="0">
                <a:solidFill>
                  <a:srgbClr val="0A8BCA"/>
                </a:solidFill>
                <a:latin typeface="Aptos"/>
              </a:rPr>
              <a:t>KEY TAKEAWAYS</a:t>
            </a:r>
          </a:p>
        </p:txBody>
      </p:sp>
      <p:sp>
        <p:nvSpPr>
          <p:cNvPr id="11" name="TextBox 10"/>
          <p:cNvSpPr txBox="1"/>
          <p:nvPr/>
        </p:nvSpPr>
        <p:spPr>
          <a:xfrm>
            <a:off x="667512" y="812030"/>
            <a:ext cx="10415016" cy="369332"/>
          </a:xfrm>
          <a:prstGeom prst="rect">
            <a:avLst/>
          </a:prstGeom>
          <a:noFill/>
        </p:spPr>
        <p:txBody>
          <a:bodyPr wrap="square" anchor="ctr">
            <a:spAutoFit/>
          </a:bodyPr>
          <a:lstStyle/>
          <a:p>
            <a:pPr algn="l"/>
            <a:r>
              <a:rPr b="1" dirty="0">
                <a:solidFill>
                  <a:srgbClr val="0A335F"/>
                </a:solidFill>
                <a:latin typeface="Aptos"/>
              </a:rPr>
              <a:t>What the heart-failure analysis tells us</a:t>
            </a:r>
          </a:p>
        </p:txBody>
      </p:sp>
      <p:sp>
        <p:nvSpPr>
          <p:cNvPr id="12" name="TextBox 11"/>
          <p:cNvSpPr txBox="1"/>
          <p:nvPr/>
        </p:nvSpPr>
        <p:spPr>
          <a:xfrm>
            <a:off x="658368" y="1321195"/>
            <a:ext cx="10332720" cy="338554"/>
          </a:xfrm>
          <a:prstGeom prst="rect">
            <a:avLst/>
          </a:prstGeom>
          <a:noFill/>
        </p:spPr>
        <p:txBody>
          <a:bodyPr wrap="square" anchor="ctr">
            <a:spAutoFit/>
          </a:bodyPr>
          <a:lstStyle/>
          <a:p>
            <a:pPr algn="l"/>
            <a:r>
              <a:rPr sz="1600" b="0" dirty="0">
                <a:solidFill>
                  <a:srgbClr val="1C3A56"/>
                </a:solidFill>
                <a:latin typeface="Aptos"/>
              </a:rPr>
              <a:t>A connected view of severity, clinical action, and multivariable risk.</a:t>
            </a:r>
          </a:p>
        </p:txBody>
      </p:sp>
      <p:sp>
        <p:nvSpPr>
          <p:cNvPr id="13" name="Rounded Rectangle 12"/>
          <p:cNvSpPr/>
          <p:nvPr/>
        </p:nvSpPr>
        <p:spPr>
          <a:xfrm>
            <a:off x="658368" y="1874519"/>
            <a:ext cx="5349240" cy="1234440"/>
          </a:xfrm>
          <a:prstGeom prst="round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22959" y="2039112"/>
            <a:ext cx="438912" cy="438912"/>
          </a:xfrm>
          <a:prstGeom prst="ellipse">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59" y="2039112"/>
            <a:ext cx="438912" cy="438912"/>
          </a:xfrm>
          <a:prstGeom prst="rect">
            <a:avLst/>
          </a:prstGeom>
          <a:noFill/>
        </p:spPr>
        <p:txBody>
          <a:bodyPr wrap="square" anchor="ctr">
            <a:spAutoFit/>
          </a:bodyPr>
          <a:lstStyle/>
          <a:p>
            <a:pPr algn="ctr"/>
            <a:r>
              <a:rPr sz="1200" b="1">
                <a:solidFill>
                  <a:srgbClr val="1C3A56"/>
                </a:solidFill>
                <a:latin typeface="Aptos"/>
              </a:rPr>
              <a:t>1</a:t>
            </a:r>
          </a:p>
        </p:txBody>
      </p:sp>
      <p:sp>
        <p:nvSpPr>
          <p:cNvPr id="16" name="TextBox 15"/>
          <p:cNvSpPr txBox="1"/>
          <p:nvPr/>
        </p:nvSpPr>
        <p:spPr>
          <a:xfrm>
            <a:off x="1408176" y="2011679"/>
            <a:ext cx="4453127" cy="329184"/>
          </a:xfrm>
          <a:prstGeom prst="rect">
            <a:avLst/>
          </a:prstGeom>
          <a:noFill/>
        </p:spPr>
        <p:txBody>
          <a:bodyPr wrap="square" anchor="ctr">
            <a:spAutoFit/>
          </a:bodyPr>
          <a:lstStyle/>
          <a:p>
            <a:pPr algn="l"/>
            <a:r>
              <a:rPr sz="1500" b="1">
                <a:solidFill>
                  <a:srgbClr val="1C3A56"/>
                </a:solidFill>
                <a:latin typeface="Aptos"/>
              </a:rPr>
              <a:t>Severity is multidimensional</a:t>
            </a:r>
          </a:p>
        </p:txBody>
      </p:sp>
      <p:sp>
        <p:nvSpPr>
          <p:cNvPr id="17" name="TextBox 16"/>
          <p:cNvSpPr txBox="1"/>
          <p:nvPr/>
        </p:nvSpPr>
        <p:spPr>
          <a:xfrm>
            <a:off x="1408176" y="2319451"/>
            <a:ext cx="4434840" cy="646331"/>
          </a:xfrm>
          <a:prstGeom prst="rect">
            <a:avLst/>
          </a:prstGeom>
          <a:noFill/>
        </p:spPr>
        <p:txBody>
          <a:bodyPr wrap="square" anchor="ctr">
            <a:spAutoFit/>
          </a:bodyPr>
          <a:lstStyle/>
          <a:p>
            <a:pPr algn="l"/>
            <a:r>
              <a:rPr sz="1200" b="0" dirty="0">
                <a:solidFill>
                  <a:srgbClr val="1C3A56"/>
                </a:solidFill>
                <a:latin typeface="Aptos"/>
              </a:rPr>
              <a:t>Higher NYHA class aligned with higher BNP and Troponin, while BNP–LVEF pathways showed meaningful variation within the same functional class.</a:t>
            </a:r>
          </a:p>
        </p:txBody>
      </p:sp>
      <p:sp>
        <p:nvSpPr>
          <p:cNvPr id="18" name="Rounded Rectangle 17"/>
          <p:cNvSpPr/>
          <p:nvPr/>
        </p:nvSpPr>
        <p:spPr>
          <a:xfrm>
            <a:off x="6172200" y="1874519"/>
            <a:ext cx="5349240" cy="1234440"/>
          </a:xfrm>
          <a:prstGeom prst="round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336792" y="2039112"/>
            <a:ext cx="438912" cy="438912"/>
          </a:xfrm>
          <a:prstGeom prst="ellipse">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36792" y="2039112"/>
            <a:ext cx="438912" cy="438912"/>
          </a:xfrm>
          <a:prstGeom prst="rect">
            <a:avLst/>
          </a:prstGeom>
          <a:noFill/>
        </p:spPr>
        <p:txBody>
          <a:bodyPr wrap="square" anchor="ctr">
            <a:spAutoFit/>
          </a:bodyPr>
          <a:lstStyle/>
          <a:p>
            <a:pPr algn="ctr"/>
            <a:r>
              <a:rPr sz="1200" b="1">
                <a:solidFill>
                  <a:srgbClr val="1C3A56"/>
                </a:solidFill>
                <a:latin typeface="Aptos"/>
              </a:rPr>
              <a:t>2</a:t>
            </a:r>
          </a:p>
        </p:txBody>
      </p:sp>
      <p:sp>
        <p:nvSpPr>
          <p:cNvPr id="21" name="TextBox 20"/>
          <p:cNvSpPr txBox="1"/>
          <p:nvPr/>
        </p:nvSpPr>
        <p:spPr>
          <a:xfrm>
            <a:off x="6922008" y="2011679"/>
            <a:ext cx="4453127" cy="329184"/>
          </a:xfrm>
          <a:prstGeom prst="rect">
            <a:avLst/>
          </a:prstGeom>
          <a:noFill/>
        </p:spPr>
        <p:txBody>
          <a:bodyPr wrap="square" anchor="ctr">
            <a:spAutoFit/>
          </a:bodyPr>
          <a:lstStyle/>
          <a:p>
            <a:pPr algn="l"/>
            <a:r>
              <a:rPr sz="1500" b="1">
                <a:solidFill>
                  <a:srgbClr val="1C3A56"/>
                </a:solidFill>
                <a:latin typeface="Aptos"/>
              </a:rPr>
              <a:t>Risk can guide monitoring</a:t>
            </a:r>
          </a:p>
        </p:txBody>
      </p:sp>
      <p:sp>
        <p:nvSpPr>
          <p:cNvPr id="22" name="TextBox 21"/>
          <p:cNvSpPr txBox="1"/>
          <p:nvPr/>
        </p:nvSpPr>
        <p:spPr>
          <a:xfrm>
            <a:off x="6922008" y="2319451"/>
            <a:ext cx="4434840" cy="646331"/>
          </a:xfrm>
          <a:prstGeom prst="rect">
            <a:avLst/>
          </a:prstGeom>
          <a:noFill/>
        </p:spPr>
        <p:txBody>
          <a:bodyPr wrap="square" anchor="ctr">
            <a:spAutoFit/>
          </a:bodyPr>
          <a:lstStyle/>
          <a:p>
            <a:pPr algn="l"/>
            <a:r>
              <a:rPr sz="1200" b="0" dirty="0">
                <a:solidFill>
                  <a:srgbClr val="1C3A56"/>
                </a:solidFill>
                <a:latin typeface="Aptos"/>
              </a:rPr>
              <a:t>High </a:t>
            </a:r>
            <a:r>
              <a:rPr sz="1200" b="0" dirty="0" smtClean="0">
                <a:solidFill>
                  <a:srgbClr val="1C3A56"/>
                </a:solidFill>
                <a:latin typeface="Aptos"/>
              </a:rPr>
              <a:t>Killip</a:t>
            </a:r>
            <a:r>
              <a:rPr lang="en-US" sz="1200" b="0" dirty="0" smtClean="0">
                <a:solidFill>
                  <a:srgbClr val="1C3A56"/>
                </a:solidFill>
                <a:latin typeface="Aptos"/>
              </a:rPr>
              <a:t> </a:t>
            </a:r>
            <a:r>
              <a:rPr sz="1200" b="0" dirty="0" smtClean="0">
                <a:solidFill>
                  <a:srgbClr val="1C3A56"/>
                </a:solidFill>
                <a:latin typeface="Aptos"/>
              </a:rPr>
              <a:t>/</a:t>
            </a:r>
            <a:r>
              <a:rPr lang="en-US" sz="1200" b="0" dirty="0" smtClean="0">
                <a:solidFill>
                  <a:srgbClr val="1C3A56"/>
                </a:solidFill>
                <a:latin typeface="Aptos"/>
              </a:rPr>
              <a:t> </a:t>
            </a:r>
            <a:r>
              <a:rPr sz="1200" b="0" dirty="0" smtClean="0">
                <a:solidFill>
                  <a:srgbClr val="1C3A56"/>
                </a:solidFill>
                <a:latin typeface="Aptos"/>
              </a:rPr>
              <a:t>NYHA </a:t>
            </a:r>
            <a:r>
              <a:rPr sz="1200" b="0" dirty="0">
                <a:solidFill>
                  <a:srgbClr val="1C3A56"/>
                </a:solidFill>
                <a:latin typeface="Aptos"/>
              </a:rPr>
              <a:t>combinations and ICU mortality patterns support focusing monitoring and resources on clinically higher-risk groups.</a:t>
            </a:r>
          </a:p>
        </p:txBody>
      </p:sp>
      <p:sp>
        <p:nvSpPr>
          <p:cNvPr id="23" name="Rounded Rectangle 22"/>
          <p:cNvSpPr/>
          <p:nvPr/>
        </p:nvSpPr>
        <p:spPr>
          <a:xfrm>
            <a:off x="658368" y="3310128"/>
            <a:ext cx="5349240" cy="1234440"/>
          </a:xfrm>
          <a:prstGeom prst="round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22959" y="3474720"/>
            <a:ext cx="438912" cy="438912"/>
          </a:xfrm>
          <a:prstGeom prst="ellipse">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59" y="3474720"/>
            <a:ext cx="438912" cy="438912"/>
          </a:xfrm>
          <a:prstGeom prst="rect">
            <a:avLst/>
          </a:prstGeom>
          <a:noFill/>
        </p:spPr>
        <p:txBody>
          <a:bodyPr wrap="square" anchor="ctr">
            <a:spAutoFit/>
          </a:bodyPr>
          <a:lstStyle/>
          <a:p>
            <a:pPr algn="ctr"/>
            <a:r>
              <a:rPr sz="1200" b="1">
                <a:solidFill>
                  <a:srgbClr val="1C3A56"/>
                </a:solidFill>
                <a:latin typeface="Aptos"/>
              </a:rPr>
              <a:t>3</a:t>
            </a:r>
          </a:p>
        </p:txBody>
      </p:sp>
      <p:sp>
        <p:nvSpPr>
          <p:cNvPr id="26" name="TextBox 25"/>
          <p:cNvSpPr txBox="1"/>
          <p:nvPr/>
        </p:nvSpPr>
        <p:spPr>
          <a:xfrm>
            <a:off x="1408176" y="3447288"/>
            <a:ext cx="4453127" cy="329184"/>
          </a:xfrm>
          <a:prstGeom prst="rect">
            <a:avLst/>
          </a:prstGeom>
          <a:noFill/>
        </p:spPr>
        <p:txBody>
          <a:bodyPr wrap="square" anchor="ctr">
            <a:spAutoFit/>
          </a:bodyPr>
          <a:lstStyle/>
          <a:p>
            <a:pPr algn="l"/>
            <a:r>
              <a:rPr sz="1500" b="1" dirty="0">
                <a:solidFill>
                  <a:srgbClr val="1C3A56"/>
                </a:solidFill>
                <a:latin typeface="Aptos"/>
              </a:rPr>
              <a:t>Comorbidity burden matters</a:t>
            </a:r>
          </a:p>
        </p:txBody>
      </p:sp>
      <p:sp>
        <p:nvSpPr>
          <p:cNvPr id="27" name="TextBox 26"/>
          <p:cNvSpPr txBox="1"/>
          <p:nvPr/>
        </p:nvSpPr>
        <p:spPr>
          <a:xfrm>
            <a:off x="1408176" y="3755059"/>
            <a:ext cx="4434840" cy="646331"/>
          </a:xfrm>
          <a:prstGeom prst="rect">
            <a:avLst/>
          </a:prstGeom>
          <a:noFill/>
        </p:spPr>
        <p:txBody>
          <a:bodyPr wrap="square" anchor="ctr">
            <a:spAutoFit/>
          </a:bodyPr>
          <a:lstStyle/>
          <a:p>
            <a:pPr algn="l"/>
            <a:r>
              <a:rPr sz="1200" b="0" dirty="0">
                <a:solidFill>
                  <a:srgbClr val="1C3A56"/>
                </a:solidFill>
                <a:latin typeface="Aptos"/>
              </a:rPr>
              <a:t>The selected logistic model showed strong held-out discrimination; CCI, CKD, COPD and diabetes contributed important multivariable signals.</a:t>
            </a:r>
          </a:p>
        </p:txBody>
      </p:sp>
      <p:sp>
        <p:nvSpPr>
          <p:cNvPr id="28" name="Rounded Rectangle 27"/>
          <p:cNvSpPr/>
          <p:nvPr/>
        </p:nvSpPr>
        <p:spPr>
          <a:xfrm>
            <a:off x="6172200" y="3310128"/>
            <a:ext cx="5349240" cy="1234440"/>
          </a:xfrm>
          <a:prstGeom prst="round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336792" y="3474720"/>
            <a:ext cx="438912" cy="438912"/>
          </a:xfrm>
          <a:prstGeom prst="ellipse">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36792" y="3474720"/>
            <a:ext cx="438912" cy="438912"/>
          </a:xfrm>
          <a:prstGeom prst="rect">
            <a:avLst/>
          </a:prstGeom>
          <a:noFill/>
        </p:spPr>
        <p:txBody>
          <a:bodyPr wrap="square" anchor="ctr">
            <a:spAutoFit/>
          </a:bodyPr>
          <a:lstStyle/>
          <a:p>
            <a:pPr algn="ctr"/>
            <a:r>
              <a:rPr sz="1200" b="1">
                <a:solidFill>
                  <a:srgbClr val="1C3A56"/>
                </a:solidFill>
                <a:latin typeface="Aptos"/>
              </a:rPr>
              <a:t>4</a:t>
            </a:r>
          </a:p>
        </p:txBody>
      </p:sp>
      <p:sp>
        <p:nvSpPr>
          <p:cNvPr id="31" name="TextBox 30"/>
          <p:cNvSpPr txBox="1"/>
          <p:nvPr/>
        </p:nvSpPr>
        <p:spPr>
          <a:xfrm>
            <a:off x="6922008" y="3447288"/>
            <a:ext cx="4453127" cy="329184"/>
          </a:xfrm>
          <a:prstGeom prst="rect">
            <a:avLst/>
          </a:prstGeom>
          <a:noFill/>
        </p:spPr>
        <p:txBody>
          <a:bodyPr wrap="square" anchor="ctr">
            <a:spAutoFit/>
          </a:bodyPr>
          <a:lstStyle/>
          <a:p>
            <a:pPr algn="l"/>
            <a:r>
              <a:rPr sz="1500" b="1">
                <a:solidFill>
                  <a:srgbClr val="1C3A56"/>
                </a:solidFill>
                <a:latin typeface="Aptos"/>
              </a:rPr>
              <a:t>The dashboard connects the story</a:t>
            </a:r>
          </a:p>
        </p:txBody>
      </p:sp>
      <p:sp>
        <p:nvSpPr>
          <p:cNvPr id="32" name="TextBox 31"/>
          <p:cNvSpPr txBox="1"/>
          <p:nvPr/>
        </p:nvSpPr>
        <p:spPr>
          <a:xfrm>
            <a:off x="6922008" y="3847391"/>
            <a:ext cx="4434840" cy="461665"/>
          </a:xfrm>
          <a:prstGeom prst="rect">
            <a:avLst/>
          </a:prstGeom>
          <a:noFill/>
        </p:spPr>
        <p:txBody>
          <a:bodyPr wrap="square" anchor="ctr">
            <a:spAutoFit/>
          </a:bodyPr>
          <a:lstStyle/>
          <a:p>
            <a:pPr algn="l"/>
            <a:r>
              <a:rPr sz="1200" b="0" dirty="0">
                <a:solidFill>
                  <a:srgbClr val="1C3A56"/>
                </a:solidFill>
                <a:latin typeface="Aptos"/>
              </a:rPr>
              <a:t>The final dashboard brings cohort profile, clinical patterns, risk priorities and outcomes into one decision-focused view.</a:t>
            </a:r>
          </a:p>
        </p:txBody>
      </p:sp>
      <p:sp>
        <p:nvSpPr>
          <p:cNvPr id="33" name="Rounded Rectangle 32"/>
          <p:cNvSpPr/>
          <p:nvPr/>
        </p:nvSpPr>
        <p:spPr>
          <a:xfrm>
            <a:off x="658368" y="4983480"/>
            <a:ext cx="10863072" cy="713232"/>
          </a:xfrm>
          <a:prstGeom prst="round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68680" y="5102352"/>
            <a:ext cx="10424160" cy="411480"/>
          </a:xfrm>
          <a:prstGeom prst="rect">
            <a:avLst/>
          </a:prstGeom>
          <a:noFill/>
        </p:spPr>
        <p:txBody>
          <a:bodyPr wrap="square" anchor="ctr">
            <a:spAutoFit/>
          </a:bodyPr>
          <a:lstStyle/>
          <a:p>
            <a:pPr algn="ctr"/>
            <a:r>
              <a:rPr sz="1500" b="1">
                <a:solidFill>
                  <a:srgbClr val="0A8BCA"/>
                </a:solidFill>
                <a:latin typeface="Aptos"/>
              </a:rPr>
              <a:t>FROM RAW CLINICAL DATA  →  VALIDATED ANALYSIS  →  ACTIONABLE INTELLIGENCE</a:t>
            </a:r>
          </a:p>
        </p:txBody>
      </p:sp>
      <p:sp>
        <p:nvSpPr>
          <p:cNvPr id="35" name="Rectangle 34"/>
          <p:cNvSpPr/>
          <p:nvPr/>
        </p:nvSpPr>
        <p:spPr>
          <a:xfrm>
            <a:off x="0" y="0"/>
            <a:ext cx="12192000" cy="109728"/>
          </a:xfrm>
          <a:prstGeom prst="rect">
            <a:avLst/>
          </a:prstGeom>
          <a:solidFill>
            <a:srgbClr val="0A3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Hexagon 35"/>
          <p:cNvSpPr/>
          <p:nvPr/>
        </p:nvSpPr>
        <p:spPr>
          <a:xfrm>
            <a:off x="10469880" y="438912"/>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Hexagon 36"/>
          <p:cNvSpPr/>
          <p:nvPr/>
        </p:nvSpPr>
        <p:spPr>
          <a:xfrm>
            <a:off x="10853928" y="758952"/>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Hexagon 37"/>
          <p:cNvSpPr/>
          <p:nvPr/>
        </p:nvSpPr>
        <p:spPr>
          <a:xfrm>
            <a:off x="11237976" y="1078992"/>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EFF"/>
        </a:solidFill>
        <a:effectLst/>
      </p:bgPr>
    </p:bg>
    <p:spTree>
      <p:nvGrpSpPr>
        <p:cNvPr id="1" name=""/>
        <p:cNvGrpSpPr/>
        <p:nvPr/>
      </p:nvGrpSpPr>
      <p:grpSpPr>
        <a:xfrm>
          <a:off x="0" y="0"/>
          <a:ext cx="0" cy="0"/>
          <a:chOff x="0" y="0"/>
          <a:chExt cx="0" cy="0"/>
        </a:xfrm>
      </p:grpSpPr>
      <p:sp>
        <p:nvSpPr>
          <p:cNvPr id="3" name="Rectangle 2"/>
          <p:cNvSpPr/>
          <p:nvPr/>
        </p:nvSpPr>
        <p:spPr>
          <a:xfrm>
            <a:off x="11795760" y="0"/>
            <a:ext cx="393192" cy="6858000"/>
          </a:xfrm>
          <a:prstGeom prst="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64592" cy="6858000"/>
          </a:xfrm>
          <a:prstGeom prst="rect">
            <a:avLst/>
          </a:prstGeom>
          <a:solidFill>
            <a:srgbClr val="EBF7FD"/>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5230368" y="1956816"/>
            <a:ext cx="283464"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5513832" y="1627632"/>
            <a:ext cx="155448" cy="329184"/>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669280" y="1627632"/>
            <a:ext cx="201168" cy="67665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5870448" y="1810512"/>
            <a:ext cx="228600" cy="49377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1810512"/>
            <a:ext cx="210312" cy="146304"/>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309360" y="1956816"/>
            <a:ext cx="594360"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0" y="0"/>
            <a:ext cx="12192000" cy="109728"/>
          </a:xfrm>
          <a:prstGeom prst="rect">
            <a:avLst/>
          </a:prstGeom>
          <a:solidFill>
            <a:srgbClr val="0A3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Hexagon 15"/>
          <p:cNvSpPr/>
          <p:nvPr/>
        </p:nvSpPr>
        <p:spPr>
          <a:xfrm>
            <a:off x="10469880" y="438912"/>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Hexagon 16"/>
          <p:cNvSpPr/>
          <p:nvPr/>
        </p:nvSpPr>
        <p:spPr>
          <a:xfrm>
            <a:off x="10853928" y="758952"/>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Hexagon 17"/>
          <p:cNvSpPr/>
          <p:nvPr/>
        </p:nvSpPr>
        <p:spPr>
          <a:xfrm>
            <a:off x="11237976" y="1078992"/>
            <a:ext cx="502920" cy="438912"/>
          </a:xfrm>
          <a:prstGeom prst="hexagon">
            <a:avLst/>
          </a:prstGeom>
          <a:solidFill>
            <a:srgbClr val="DCF0FA"/>
          </a:solidFill>
          <a:ln>
            <a:solidFill>
              <a:srgbClr val="BED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6583680"/>
            <a:ext cx="12192000" cy="274320"/>
          </a:xfrm>
          <a:prstGeom prst="rect">
            <a:avLst/>
          </a:prstGeom>
          <a:solidFill>
            <a:srgbClr val="EBF7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9728"/>
            <a:ext cx="12188952" cy="6748272"/>
          </a:xfrm>
          <a:prstGeom prst="rect">
            <a:avLst/>
          </a:prstGeom>
        </p:spPr>
      </p:pic>
      <p:sp>
        <p:nvSpPr>
          <p:cNvPr id="23" name="TextBox 22"/>
          <p:cNvSpPr txBox="1"/>
          <p:nvPr/>
        </p:nvSpPr>
        <p:spPr>
          <a:xfrm>
            <a:off x="987552" y="4303737"/>
            <a:ext cx="5292090" cy="323165"/>
          </a:xfrm>
          <a:prstGeom prst="rect">
            <a:avLst/>
          </a:prstGeom>
          <a:noFill/>
        </p:spPr>
        <p:txBody>
          <a:bodyPr wrap="square" anchor="ctr">
            <a:spAutoFit/>
          </a:bodyPr>
          <a:lstStyle/>
          <a:p>
            <a:pPr algn="ctr"/>
            <a:r>
              <a:rPr sz="1500" b="0" dirty="0">
                <a:solidFill>
                  <a:srgbClr val="1C3A56"/>
                </a:solidFill>
                <a:latin typeface="Aptos"/>
              </a:rPr>
              <a:t>From Clinical Data to Actionable Intelligence</a:t>
            </a:r>
          </a:p>
        </p:txBody>
      </p:sp>
      <p:sp>
        <p:nvSpPr>
          <p:cNvPr id="24" name="TextBox 23"/>
          <p:cNvSpPr txBox="1"/>
          <p:nvPr/>
        </p:nvSpPr>
        <p:spPr>
          <a:xfrm>
            <a:off x="987552" y="5031911"/>
            <a:ext cx="5292090" cy="384721"/>
          </a:xfrm>
          <a:prstGeom prst="rect">
            <a:avLst/>
          </a:prstGeom>
          <a:noFill/>
        </p:spPr>
        <p:txBody>
          <a:bodyPr wrap="square" anchor="ctr">
            <a:spAutoFit/>
          </a:bodyPr>
          <a:lstStyle/>
          <a:p>
            <a:pPr algn="ctr"/>
            <a:r>
              <a:rPr sz="1900" b="1" dirty="0">
                <a:solidFill>
                  <a:srgbClr val="1C3A56"/>
                </a:solidFill>
                <a:latin typeface="Aptos"/>
              </a:rPr>
              <a:t>Questions?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TotalTime>
  <Words>1372</Words>
  <Application>Microsoft Office PowerPoint</Application>
  <PresentationFormat>Widescreen</PresentationFormat>
  <Paragraphs>125</Paragraphs>
  <Slides>9</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Footlight MT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Team 7 — Code Avengers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Clinical Data to Actionable Intelligence</dc:title>
  <dc:subject>Python Hackathon project journey and dashboard</dc:subject>
  <dc:creator>Team 7 — Code Avengers</dc:creator>
  <cp:lastModifiedBy>Ashish</cp:lastModifiedBy>
  <cp:revision>10</cp:revision>
  <dcterms:created xsi:type="dcterms:W3CDTF">2026-09-26T19:52:11Z</dcterms:created>
  <dcterms:modified xsi:type="dcterms:W3CDTF">2026-09-29T19:30:46Z</dcterms:modified>
</cp:coreProperties>
</file>